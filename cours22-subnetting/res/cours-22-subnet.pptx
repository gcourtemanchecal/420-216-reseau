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3"/>
  </p:notesMasterIdLst>
  <p:sldIdLst>
    <p:sldId id="256" r:id="rId2"/>
    <p:sldId id="258" r:id="rId3"/>
    <p:sldId id="259" r:id="rId4"/>
    <p:sldId id="260" r:id="rId5"/>
    <p:sldId id="262" r:id="rId6"/>
    <p:sldId id="261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laume Courtemanche" userId="e091c02d-bff7-4081-aa13-b3664ffbaa88" providerId="ADAL" clId="{5C7DF9F1-070C-46A0-96EC-A456FE7AA55D}"/>
    <pc:docChg chg="delSld">
      <pc:chgData name="Guillaume Courtemanche" userId="e091c02d-bff7-4081-aa13-b3664ffbaa88" providerId="ADAL" clId="{5C7DF9F1-070C-46A0-96EC-A456FE7AA55D}" dt="2026-03-16T18:39:30.919" v="0" actId="47"/>
      <pc:docMkLst>
        <pc:docMk/>
      </pc:docMkLst>
      <pc:sldChg chg="del">
        <pc:chgData name="Guillaume Courtemanche" userId="e091c02d-bff7-4081-aa13-b3664ffbaa88" providerId="ADAL" clId="{5C7DF9F1-070C-46A0-96EC-A456FE7AA55D}" dt="2026-03-16T18:39:30.919" v="0" actId="47"/>
        <pc:sldMkLst>
          <pc:docMk/>
          <pc:sldMk cId="2873521751" sldId="268"/>
        </pc:sldMkLst>
      </pc:sldChg>
      <pc:sldChg chg="del">
        <pc:chgData name="Guillaume Courtemanche" userId="e091c02d-bff7-4081-aa13-b3664ffbaa88" providerId="ADAL" clId="{5C7DF9F1-070C-46A0-96EC-A456FE7AA55D}" dt="2026-03-16T18:39:30.919" v="0" actId="47"/>
        <pc:sldMkLst>
          <pc:docMk/>
          <pc:sldMk cId="3374721023" sldId="269"/>
        </pc:sldMkLst>
      </pc:sldChg>
      <pc:sldChg chg="del">
        <pc:chgData name="Guillaume Courtemanche" userId="e091c02d-bff7-4081-aa13-b3664ffbaa88" providerId="ADAL" clId="{5C7DF9F1-070C-46A0-96EC-A456FE7AA55D}" dt="2026-03-16T18:39:30.919" v="0" actId="47"/>
        <pc:sldMkLst>
          <pc:docMk/>
          <pc:sldMk cId="3070689504" sldId="270"/>
        </pc:sldMkLst>
      </pc:sldChg>
      <pc:sldChg chg="del">
        <pc:chgData name="Guillaume Courtemanche" userId="e091c02d-bff7-4081-aa13-b3664ffbaa88" providerId="ADAL" clId="{5C7DF9F1-070C-46A0-96EC-A456FE7AA55D}" dt="2026-03-16T18:39:30.919" v="0" actId="47"/>
        <pc:sldMkLst>
          <pc:docMk/>
          <pc:sldMk cId="67883723" sldId="271"/>
        </pc:sldMkLst>
      </pc:sldChg>
      <pc:sldChg chg="del">
        <pc:chgData name="Guillaume Courtemanche" userId="e091c02d-bff7-4081-aa13-b3664ffbaa88" providerId="ADAL" clId="{5C7DF9F1-070C-46A0-96EC-A456FE7AA55D}" dt="2026-03-16T18:39:30.919" v="0" actId="47"/>
        <pc:sldMkLst>
          <pc:docMk/>
          <pc:sldMk cId="2148464910" sldId="272"/>
        </pc:sldMkLst>
      </pc:sldChg>
      <pc:sldChg chg="del">
        <pc:chgData name="Guillaume Courtemanche" userId="e091c02d-bff7-4081-aa13-b3664ffbaa88" providerId="ADAL" clId="{5C7DF9F1-070C-46A0-96EC-A456FE7AA55D}" dt="2026-03-16T18:39:30.919" v="0" actId="47"/>
        <pc:sldMkLst>
          <pc:docMk/>
          <pc:sldMk cId="3641305557" sldId="280"/>
        </pc:sldMkLst>
      </pc:sldChg>
      <pc:sldChg chg="del">
        <pc:chgData name="Guillaume Courtemanche" userId="e091c02d-bff7-4081-aa13-b3664ffbaa88" providerId="ADAL" clId="{5C7DF9F1-070C-46A0-96EC-A456FE7AA55D}" dt="2026-03-16T18:39:30.919" v="0" actId="47"/>
        <pc:sldMkLst>
          <pc:docMk/>
          <pc:sldMk cId="1293640672" sldId="281"/>
        </pc:sldMkLst>
      </pc:sldChg>
      <pc:sldChg chg="del">
        <pc:chgData name="Guillaume Courtemanche" userId="e091c02d-bff7-4081-aa13-b3664ffbaa88" providerId="ADAL" clId="{5C7DF9F1-070C-46A0-96EC-A456FE7AA55D}" dt="2026-03-16T18:39:30.919" v="0" actId="47"/>
        <pc:sldMkLst>
          <pc:docMk/>
          <pc:sldMk cId="1209886878" sldId="282"/>
        </pc:sldMkLst>
      </pc:sldChg>
      <pc:sldChg chg="del">
        <pc:chgData name="Guillaume Courtemanche" userId="e091c02d-bff7-4081-aa13-b3664ffbaa88" providerId="ADAL" clId="{5C7DF9F1-070C-46A0-96EC-A456FE7AA55D}" dt="2026-03-16T18:39:30.919" v="0" actId="47"/>
        <pc:sldMkLst>
          <pc:docMk/>
          <pc:sldMk cId="3408292215" sldId="283"/>
        </pc:sldMkLst>
      </pc:sldChg>
      <pc:sldChg chg="del">
        <pc:chgData name="Guillaume Courtemanche" userId="e091c02d-bff7-4081-aa13-b3664ffbaa88" providerId="ADAL" clId="{5C7DF9F1-070C-46A0-96EC-A456FE7AA55D}" dt="2026-03-16T18:39:30.919" v="0" actId="47"/>
        <pc:sldMkLst>
          <pc:docMk/>
          <pc:sldMk cId="2965354374" sldId="284"/>
        </pc:sldMkLst>
      </pc:sldChg>
      <pc:sldChg chg="del">
        <pc:chgData name="Guillaume Courtemanche" userId="e091c02d-bff7-4081-aa13-b3664ffbaa88" providerId="ADAL" clId="{5C7DF9F1-070C-46A0-96EC-A456FE7AA55D}" dt="2026-03-16T18:39:30.919" v="0" actId="47"/>
        <pc:sldMkLst>
          <pc:docMk/>
          <pc:sldMk cId="2284701198" sldId="28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85EF72-DB56-49BC-8F97-985FF840A1F3}" type="datetimeFigureOut">
              <a:rPr lang="fr-CA" smtClean="0"/>
              <a:t>2026-03-16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71C9F8-A7FA-4D7A-BDF4-C10A8162F8B4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37275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674CB-3709-4ACF-BB61-29ADEA3D41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33272"/>
            <a:ext cx="9144000" cy="2478024"/>
          </a:xfrm>
        </p:spPr>
        <p:txBody>
          <a:bodyPr lIns="0" tIns="0" rIns="0" bIns="0" anchor="b">
            <a:noAutofit/>
          </a:bodyPr>
          <a:lstStyle>
            <a:lvl1pPr algn="ctr">
              <a:defRPr sz="4000" spc="7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6DA6BE-9B64-48FC-92D1-EF0D426A39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22192"/>
            <a:ext cx="9144000" cy="1435608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50000"/>
              </a:lnSpc>
              <a:buNone/>
              <a:defRPr sz="1600" cap="all" spc="6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3AE59-8E21-449F-86DA-5BE297010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A5808-3B61-48CC-92EF-85AC2E0DFA56}" type="datetime2">
              <a:rPr lang="en-US" smtClean="0"/>
              <a:t>Monday, March 16,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CCD60-9970-49FD-8254-21154BAA1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0A488-07A7-42F9-B1DF-68545B754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675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E0F35-0AE7-48AB-9005-F1DB4BD0B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D4022-C31F-4C4C-B5BF-5F9730C08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45EE9-11D3-436C-9D73-1AA6CCDB1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AF3C6-0FD4-4939-991C-00DDE5C56815}" type="datetime2">
              <a:rPr lang="en-US" smtClean="0"/>
              <a:t>Monday, March 16,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17DCF-881F-4956-81AE-A6D27A88F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65F17-AD75-4B7E-970D-5D4DBD5D1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479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12CB-05D8-4D62-BDC5-812DB6DD0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709738"/>
            <a:ext cx="9966960" cy="285273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 spc="7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52F020-8516-4B9E-B455-5731ED6C9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4974336"/>
            <a:ext cx="9966961" cy="1115568"/>
          </a:xfrm>
        </p:spPr>
        <p:txBody>
          <a:bodyPr>
            <a:normAutofit/>
          </a:bodyPr>
          <a:lstStyle>
            <a:lvl1pPr marL="0" indent="0">
              <a:buNone/>
              <a:defRPr sz="1600" cap="all" spc="6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22993-6E28-44BB-B983-095B476B8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07482-8128-47C6-A8DD-6452B0291CFF}" type="datetime2">
              <a:rPr lang="en-US" smtClean="0"/>
              <a:t>Monday, March 16,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09971-06C9-462B-81D9-BEF24C708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A076D-47C1-49CD-9A8B-956DB3FC3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187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8DFBD-F5ED-455C-8AD0-97476A55E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0E58C-F463-4D52-9225-9410133113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2112264"/>
            <a:ext cx="4846320" cy="3959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F7BDB4-97FA-485D-A557-6F96692BAC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66560" y="2112265"/>
            <a:ext cx="4846320" cy="39593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50007-C799-4117-8ACD-5EE980E63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03F25-275E-41DE-BE3B-EBF0DB49F9B1}" type="datetime2">
              <a:rPr lang="en-US" smtClean="0"/>
              <a:t>Monday, March 16,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4E8968-6BAD-4D5A-BF1D-911C7A39C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9D8C08-BF20-4D5E-9004-0C075C36D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020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036E0D-26A5-455A-A8BD-70DA8BC03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484107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FD4EA0-094D-4056-9032-BFB44B408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71600" y="3018472"/>
            <a:ext cx="4841076" cy="31048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C0CCE8-718F-4620-8B4A-C60EEA7B88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66560" y="2112264"/>
            <a:ext cx="48463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CE86DF-0069-4D31-BDD3-A9A2F9B7B4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66560" y="3018471"/>
            <a:ext cx="4841076" cy="3104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A5ED06-FE54-4B86-A8D4-07D0EB08C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75572-4A44-4171-84AA-64D42C8050A6}" type="datetime2">
              <a:rPr lang="en-US" smtClean="0"/>
              <a:t>Monday, March 16, 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9EC6C3-0950-4AFE-936A-9AB5D2278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84B1D1-BE0C-48F4-BC74-90675A0F0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D453288-3D76-40C1-BE00-223AB28F1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3187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B1716-24B0-42CD-95B6-843092597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E3617E-4B11-481F-AC6E-000317902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1612E-528E-4FD5-9E9E-E15F1108F171}" type="datetime2">
              <a:rPr lang="en-US" smtClean="0"/>
              <a:t>Monday, March 16,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F19CC-06D3-40E9-81B5-63B457B22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EFC312-3AA5-46F7-B701-3D9327A68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347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C9E28E-1389-47AF-B3EB-22571417A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6D862-A06D-436F-A92E-EBAAD50B6E50}" type="datetime2">
              <a:rPr lang="en-US" smtClean="0"/>
              <a:t>Monday, March 16,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CF6B08-1984-4F7C-9F6E-A4F47BDBA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1B3C5-CEC7-427F-931C-1318C421B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996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EB55F-536E-4547-A5D2-0483FC368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87425"/>
            <a:ext cx="3932237" cy="1894511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17D3C-533B-4EA9-886B-FAE59956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0992" y="987425"/>
            <a:ext cx="5687568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9D2E1-4B17-4608-961E-2C4719855E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0" y="3058510"/>
            <a:ext cx="3932237" cy="28025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5A3535-184C-438C-AE91-9C42B7C5A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E0B7D-2260-4809-8F0A-9E5F3E24F169}" type="datetime2">
              <a:rPr lang="en-US" smtClean="0"/>
              <a:t>Monday, March 16,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F6DBC3-4A58-42BA-9B55-A9A725103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E6563-0AB6-4038-A12B-A259552DB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663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702C5-1E3B-4C62-A538-59BB57286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87552"/>
            <a:ext cx="3932237" cy="1892808"/>
          </a:xfrm>
        </p:spPr>
        <p:txBody>
          <a:bodyPr anchor="b"/>
          <a:lstStyle>
            <a:lvl1pPr>
              <a:defRPr sz="3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2CF574-95CE-4E60-B2CF-3B5B4F33A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05319" y="987425"/>
            <a:ext cx="583324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039F7C-C735-4356-8B04-89E1904795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0" y="3033286"/>
            <a:ext cx="3932237" cy="283570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E706DF-52A3-4F34-9BF5-E1ACD5D5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E4735-C637-46A3-94EB-AB3AC4188D2F}" type="datetime2">
              <a:rPr lang="en-US" smtClean="0"/>
              <a:t>Monday, March 16,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B25E53-E72E-4110-BB6B-3477F56C3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86F8F-3D62-4CEC-AD9A-B70848E6A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650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DC3B6-2D75-4EC4-9120-88DCE0EA6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4B06CB-A0FE-4499-B674-90C8C281A5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FD700-765A-4DE6-A8EC-9D9D92FCB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E98AF-4574-4509-BF7A-519ACD5BF826}" type="datetime2">
              <a:rPr lang="en-US" smtClean="0"/>
              <a:t>Monday, March 16,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664EC-C4B1-4D14-9ED3-14C6CCBFF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F5526-E518-4133-9F44-D812576C1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784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F62998-15B1-4CA8-8C60-7801001F80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38899"/>
            <a:ext cx="2628900" cy="48493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1AE278-0885-4594-AB09-120344C7D8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49235" y="838900"/>
            <a:ext cx="7723265" cy="4849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850CC-FB43-4988-8D4E-9C54C2018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D97D4-9636-490F-85D0-E926C2B6F3B1}" type="datetime2">
              <a:rPr lang="en-US" smtClean="0"/>
              <a:t>Monday, March 16,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70300-3853-4FB4-A084-CF6E5CF2B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BAFB0-25AA-4B69-8418-418F47A92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307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CF2F3BB-127D-44BC-A8EF-A8BB5F5911CA}"/>
              </a:ext>
            </a:extLst>
          </p:cNvPr>
          <p:cNvSpPr/>
          <p:nvPr/>
        </p:nvSpPr>
        <p:spPr>
          <a:xfrm rot="10800000" flipH="1">
            <a:off x="0" y="6401226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0D1F30-F118-4A1F-A48F-7E5706959F64}"/>
              </a:ext>
            </a:extLst>
          </p:cNvPr>
          <p:cNvSpPr/>
          <p:nvPr/>
        </p:nvSpPr>
        <p:spPr>
          <a:xfrm flipH="1">
            <a:off x="4038602" y="6401228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AE890C-17CE-44C0-BDED-BA68F92A8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5528"/>
            <a:ext cx="10241280" cy="123444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910A6E-46D1-42CF-996C-2207737FB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10241280" cy="395935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B5247-D236-462B-BCE0-2A24DF75B0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rgbClr val="FFFFFF"/>
                </a:solidFill>
              </a:defRPr>
            </a:lvl1pPr>
          </a:lstStyle>
          <a:p>
            <a:fld id="{AE0C963C-C1DB-4AFD-9DDC-0691666BF49B}" type="datetime2">
              <a:rPr lang="en-US" smtClean="0"/>
              <a:pPr/>
              <a:t>Monday, March 16, 2026</a:t>
            </a:fld>
            <a:endParaRPr lang="en-US" cap="al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55C58-7DDF-4CD4-96AD-F9CC844D84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>
                <a:solidFill>
                  <a:schemeClr val="tx1"/>
                </a:solidFill>
                <a:latin typeface="+mj-lt"/>
              </a:defRPr>
            </a:lvl1pPr>
          </a:lstStyle>
          <a:p>
            <a:pPr algn="l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5647-A849-45D9-BC71-46A12E6DE4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C01389E6-C847-4AD0-B56D-D205B2EAB1EE}" type="slidenum">
              <a:rPr lang="en-US" smtClean="0"/>
              <a:pPr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286284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i="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CE9E2ED-2BB1-46AE-A037-86EC1BFB3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ADEB8F4-9DED-431C-9854-887FFAA60C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1228550"/>
            <a:ext cx="4350870" cy="2947210"/>
          </a:xfrm>
        </p:spPr>
        <p:txBody>
          <a:bodyPr anchor="t">
            <a:normAutofit/>
          </a:bodyPr>
          <a:lstStyle/>
          <a:p>
            <a:pPr algn="l"/>
            <a:r>
              <a:rPr lang="fr-CA" sz="3100">
                <a:ln w="15875">
                  <a:solidFill>
                    <a:schemeClr val="tx1"/>
                  </a:solidFill>
                </a:ln>
              </a:rPr>
              <a:t>INF-216 Réseaux et connectivité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0035385-2D49-479F-8DE9-6C010CBDD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4389120"/>
            <a:ext cx="4210167" cy="1192815"/>
          </a:xfrm>
        </p:spPr>
        <p:txBody>
          <a:bodyPr anchor="b">
            <a:normAutofit/>
          </a:bodyPr>
          <a:lstStyle/>
          <a:p>
            <a:pPr algn="l"/>
            <a:r>
              <a:rPr lang="fr-CA" sz="1400" dirty="0">
                <a:ln w="12700">
                  <a:solidFill>
                    <a:schemeClr val="tx1"/>
                  </a:solidFill>
                </a:ln>
              </a:rPr>
              <a:t>Segmentation et sous-réseau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23337" y="-3"/>
            <a:ext cx="3611463" cy="6858000"/>
          </a:xfrm>
          <a:prstGeom prst="rect">
            <a:avLst/>
          </a:prstGeom>
          <a:gradFill>
            <a:gsLst>
              <a:gs pos="0">
                <a:schemeClr val="accent5">
                  <a:alpha val="77000"/>
                </a:schemeClr>
              </a:gs>
              <a:gs pos="100000">
                <a:schemeClr val="tx2">
                  <a:lumMod val="50000"/>
                  <a:lumOff val="50000"/>
                  <a:alpha val="52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23336" y="-3"/>
            <a:ext cx="4068664" cy="6858000"/>
          </a:xfrm>
          <a:prstGeom prst="rect">
            <a:avLst/>
          </a:prstGeom>
          <a:gradFill>
            <a:gsLst>
              <a:gs pos="22000">
                <a:schemeClr val="accent2">
                  <a:alpha val="69000"/>
                </a:schemeClr>
              </a:gs>
              <a:gs pos="99000">
                <a:schemeClr val="accent4">
                  <a:alpha val="7400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426853" y="-345671"/>
            <a:ext cx="3429002" cy="4120348"/>
          </a:xfrm>
          <a:prstGeom prst="rect">
            <a:avLst/>
          </a:prstGeom>
          <a:gradFill>
            <a:gsLst>
              <a:gs pos="0">
                <a:schemeClr val="accent5">
                  <a:alpha val="26000"/>
                </a:schemeClr>
              </a:gs>
              <a:gs pos="49000">
                <a:schemeClr val="tx2">
                  <a:lumMod val="75000"/>
                  <a:lumOff val="25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5303CF1-9C40-41EA-8BDC-4120653F111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232" r="11768" b="1"/>
          <a:stretch/>
        </p:blipFill>
        <p:spPr>
          <a:xfrm>
            <a:off x="6096000" y="1012536"/>
            <a:ext cx="4756162" cy="4756162"/>
          </a:xfrm>
          <a:custGeom>
            <a:avLst/>
            <a:gdLst/>
            <a:ahLst/>
            <a:cxnLst/>
            <a:rect l="l" t="t" r="r" b="b"/>
            <a:pathLst>
              <a:path w="5031136" h="5031136">
                <a:moveTo>
                  <a:pt x="2515568" y="0"/>
                </a:moveTo>
                <a:cubicBezTo>
                  <a:pt x="3904878" y="0"/>
                  <a:pt x="5031136" y="1126258"/>
                  <a:pt x="5031136" y="2515568"/>
                </a:cubicBezTo>
                <a:cubicBezTo>
                  <a:pt x="5031136" y="3904878"/>
                  <a:pt x="3904878" y="5031136"/>
                  <a:pt x="2515568" y="5031136"/>
                </a:cubicBezTo>
                <a:cubicBezTo>
                  <a:pt x="1126258" y="5031136"/>
                  <a:pt x="0" y="3904878"/>
                  <a:pt x="0" y="2515568"/>
                </a:cubicBezTo>
                <a:cubicBezTo>
                  <a:pt x="0" y="1126258"/>
                  <a:pt x="1126258" y="0"/>
                  <a:pt x="2515568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220683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1D6A2A3-F101-46F7-8B6F-1C699CAFE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A2FF0EC-53A3-2256-A322-E355E893B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57200"/>
            <a:ext cx="4911393" cy="1556724"/>
          </a:xfrm>
        </p:spPr>
        <p:txBody>
          <a:bodyPr anchor="b">
            <a:normAutofit/>
          </a:bodyPr>
          <a:lstStyle/>
          <a:p>
            <a:r>
              <a:rPr lang="fr-CA" dirty="0"/>
              <a:t>Segmentation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6E1BE6F-B66C-3848-4501-D52D00F56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1" y="2345635"/>
            <a:ext cx="4911392" cy="3583940"/>
          </a:xfrm>
        </p:spPr>
        <p:txBody>
          <a:bodyPr anchor="t">
            <a:normAutofit/>
          </a:bodyPr>
          <a:lstStyle/>
          <a:p>
            <a:r>
              <a:rPr lang="fr-CA" sz="1600" dirty="0"/>
              <a:t>Division d’un réseau un plusieurs parties</a:t>
            </a:r>
          </a:p>
          <a:p>
            <a:r>
              <a:rPr lang="fr-CA" sz="1600" dirty="0"/>
              <a:t>Permet de gérer les paramètres d’accès et de performances de chaque segment indépendamment</a:t>
            </a:r>
          </a:p>
          <a:p>
            <a:r>
              <a:rPr lang="fr-CA" sz="1600" dirty="0"/>
              <a:t>Contrôle de performance et de sécurité</a:t>
            </a:r>
          </a:p>
        </p:txBody>
      </p:sp>
      <p:pic>
        <p:nvPicPr>
          <p:cNvPr id="5" name="Image 4" descr="Une image contenant texte, capture d’écran, diagramme, Police&#10;&#10;Le contenu généré par l’IA peut être incorrect.">
            <a:extLst>
              <a:ext uri="{FF2B5EF4-FFF2-40B4-BE49-F238E27FC236}">
                <a16:creationId xmlns:a16="http://schemas.microsoft.com/office/drawing/2014/main" id="{5A826EB8-3463-52B7-904F-9B0E892A51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4639" y="1233676"/>
            <a:ext cx="5090161" cy="391942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29E760E-527D-4053-A309-F2BDE1250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6400800"/>
            <a:ext cx="12191999" cy="457198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6">
                  <a:lumMod val="75000"/>
                  <a:alpha val="8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53D448-4ED1-429A-A28C-8316DE7CA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8"/>
            <a:ext cx="8153396" cy="448831"/>
          </a:xfrm>
          <a:prstGeom prst="rect">
            <a:avLst/>
          </a:prstGeom>
          <a:gradFill>
            <a:gsLst>
              <a:gs pos="0">
                <a:schemeClr val="accent5">
                  <a:alpha val="5000"/>
                </a:schemeClr>
              </a:gs>
              <a:gs pos="99000">
                <a:schemeClr val="accent5">
                  <a:alpha val="72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393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FA9F12-90E6-27D8-2019-D0B5D99F1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Sous-réseau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A6C51E7-24DC-A1EF-9437-A96BB08B8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103120"/>
            <a:ext cx="10241280" cy="3959352"/>
          </a:xfrm>
        </p:spPr>
        <p:txBody>
          <a:bodyPr>
            <a:normAutofit/>
          </a:bodyPr>
          <a:lstStyle/>
          <a:p>
            <a:r>
              <a:rPr lang="fr-CA" dirty="0"/>
              <a:t>Créer de nouveaux réseaux à partir d’un réseau déjà existant.</a:t>
            </a:r>
          </a:p>
          <a:p>
            <a:r>
              <a:rPr lang="fr-CA" dirty="0"/>
              <a:t>Accompli en empruntant des bits supplémentaires de la partie hôte pour la partie réseau.</a:t>
            </a:r>
          </a:p>
          <a:p>
            <a:pPr marL="914400" lvl="2" indent="0">
              <a:buNone/>
            </a:pPr>
            <a:endParaRPr lang="fr-CA" dirty="0">
              <a:latin typeface="Consolas" panose="020B0609020204030204" pitchFamily="49" charset="0"/>
            </a:endParaRPr>
          </a:p>
          <a:p>
            <a:pPr lvl="1"/>
            <a:endParaRPr lang="fr-CA" dirty="0"/>
          </a:p>
          <a:p>
            <a:endParaRPr lang="fr-CA" dirty="0"/>
          </a:p>
          <a:p>
            <a:pPr marL="0" indent="0">
              <a:buNone/>
            </a:pP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584185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1D63BA-4A3E-0781-C434-F5349CFA3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Exemple sous-réseau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B23BFF-5661-E953-5456-FA52CB6F5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Je dispose de l’ensemble du réseau 192.168.0.0/16</a:t>
            </a:r>
          </a:p>
          <a:p>
            <a:pPr lvl="1"/>
            <a:r>
              <a:rPr lang="fr-CA" dirty="0">
                <a:solidFill>
                  <a:srgbClr val="00B0F0"/>
                </a:solidFill>
                <a:latin typeface="Consolas" panose="020B0609020204030204" pitchFamily="49" charset="0"/>
              </a:rPr>
              <a:t>1100 0000 </a:t>
            </a:r>
            <a:r>
              <a:rPr lang="fr-CA" dirty="0">
                <a:latin typeface="Consolas" panose="020B0609020204030204" pitchFamily="49" charset="0"/>
              </a:rPr>
              <a:t>. </a:t>
            </a:r>
            <a:r>
              <a:rPr lang="fr-CA" dirty="0">
                <a:solidFill>
                  <a:srgbClr val="00B0F0"/>
                </a:solidFill>
                <a:latin typeface="Consolas" panose="020B0609020204030204" pitchFamily="49" charset="0"/>
              </a:rPr>
              <a:t>1010 1000 </a:t>
            </a:r>
            <a:r>
              <a:rPr lang="fr-CA" dirty="0">
                <a:latin typeface="Consolas" panose="020B0609020204030204" pitchFamily="49" charset="0"/>
              </a:rPr>
              <a:t>. 0000 0000 . 0000 0000</a:t>
            </a:r>
          </a:p>
          <a:p>
            <a:r>
              <a:rPr lang="fr-CA" dirty="0"/>
              <a:t>Je veux me créer 2 nouveaux sous-réseaux. Je vais emprunter un bit supplémentaire. </a:t>
            </a:r>
          </a:p>
          <a:p>
            <a:pPr lvl="1"/>
            <a:r>
              <a:rPr lang="fr-CA" dirty="0">
                <a:solidFill>
                  <a:srgbClr val="00B0F0"/>
                </a:solidFill>
                <a:latin typeface="Consolas" panose="020B0609020204030204" pitchFamily="49" charset="0"/>
              </a:rPr>
              <a:t>1100 0000 </a:t>
            </a:r>
            <a:r>
              <a:rPr lang="fr-CA" dirty="0">
                <a:latin typeface="Consolas" panose="020B0609020204030204" pitchFamily="49" charset="0"/>
              </a:rPr>
              <a:t>. </a:t>
            </a:r>
            <a:r>
              <a:rPr lang="fr-CA" dirty="0">
                <a:solidFill>
                  <a:srgbClr val="00B0F0"/>
                </a:solidFill>
                <a:latin typeface="Consolas" panose="020B0609020204030204" pitchFamily="49" charset="0"/>
              </a:rPr>
              <a:t>1010 1000 </a:t>
            </a:r>
            <a:r>
              <a:rPr lang="fr-CA" dirty="0">
                <a:latin typeface="Consolas" panose="020B0609020204030204" pitchFamily="49" charset="0"/>
              </a:rPr>
              <a:t>. </a:t>
            </a:r>
            <a:r>
              <a:rPr lang="fr-CA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fr-CA" dirty="0">
                <a:latin typeface="Consolas" panose="020B0609020204030204" pitchFamily="49" charset="0"/>
              </a:rPr>
              <a:t>000 0000 . 0000 0000</a:t>
            </a:r>
          </a:p>
          <a:p>
            <a:r>
              <a:rPr lang="fr-CA" dirty="0"/>
              <a:t>Les adresses réseaux potentielles vont être obtenus en jouant avec ce bit.</a:t>
            </a:r>
          </a:p>
          <a:p>
            <a:pPr lvl="1"/>
            <a:r>
              <a:rPr lang="fr-CA" dirty="0">
                <a:solidFill>
                  <a:srgbClr val="00B0F0"/>
                </a:solidFill>
                <a:latin typeface="Consolas" panose="020B0609020204030204" pitchFamily="49" charset="0"/>
              </a:rPr>
              <a:t>1100 0000 </a:t>
            </a:r>
            <a:r>
              <a:rPr lang="fr-CA" dirty="0">
                <a:latin typeface="Consolas" panose="020B0609020204030204" pitchFamily="49" charset="0"/>
              </a:rPr>
              <a:t>. </a:t>
            </a:r>
            <a:r>
              <a:rPr lang="fr-CA" dirty="0">
                <a:solidFill>
                  <a:srgbClr val="00B0F0"/>
                </a:solidFill>
                <a:latin typeface="Consolas" panose="020B0609020204030204" pitchFamily="49" charset="0"/>
              </a:rPr>
              <a:t>1010 1000 </a:t>
            </a:r>
            <a:r>
              <a:rPr lang="fr-CA" dirty="0">
                <a:latin typeface="Consolas" panose="020B0609020204030204" pitchFamily="49" charset="0"/>
              </a:rPr>
              <a:t>. </a:t>
            </a:r>
            <a:r>
              <a:rPr lang="fr-CA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fr-CA" dirty="0">
                <a:latin typeface="Consolas" panose="020B0609020204030204" pitchFamily="49" charset="0"/>
              </a:rPr>
              <a:t>000 0000 . 0000 0000 -&gt; 192.168.0.0/17</a:t>
            </a:r>
          </a:p>
          <a:p>
            <a:pPr lvl="1"/>
            <a:r>
              <a:rPr lang="fr-CA" dirty="0">
                <a:solidFill>
                  <a:srgbClr val="00B0F0"/>
                </a:solidFill>
                <a:latin typeface="Consolas" panose="020B0609020204030204" pitchFamily="49" charset="0"/>
              </a:rPr>
              <a:t>1100 0000 </a:t>
            </a:r>
            <a:r>
              <a:rPr lang="fr-CA" dirty="0">
                <a:latin typeface="Consolas" panose="020B0609020204030204" pitchFamily="49" charset="0"/>
              </a:rPr>
              <a:t>. </a:t>
            </a:r>
            <a:r>
              <a:rPr lang="fr-CA" dirty="0">
                <a:solidFill>
                  <a:srgbClr val="00B0F0"/>
                </a:solidFill>
                <a:latin typeface="Consolas" panose="020B0609020204030204" pitchFamily="49" charset="0"/>
              </a:rPr>
              <a:t>1010 1000 </a:t>
            </a:r>
            <a:r>
              <a:rPr lang="fr-CA" dirty="0">
                <a:latin typeface="Consolas" panose="020B0609020204030204" pitchFamily="49" charset="0"/>
              </a:rPr>
              <a:t>. </a:t>
            </a:r>
            <a:r>
              <a:rPr lang="fr-CA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fr-CA" dirty="0">
                <a:latin typeface="Consolas" panose="020B0609020204030204" pitchFamily="49" charset="0"/>
              </a:rPr>
              <a:t>000 0000 . 0000 0000 -&gt; 192.168.128.0/17</a:t>
            </a:r>
          </a:p>
          <a:p>
            <a:r>
              <a:rPr lang="fr-CA" b="1" dirty="0"/>
              <a:t>Nb : Le réseau d’origine ne doit pas être modifié.</a:t>
            </a:r>
          </a:p>
        </p:txBody>
      </p:sp>
    </p:spTree>
    <p:extLst>
      <p:ext uri="{BB962C8B-B14F-4D97-AF65-F5344CB8AC3E}">
        <p14:creationId xmlns:p14="http://schemas.microsoft.com/office/powerpoint/2010/main" val="3728673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F5B66A-8331-64F0-9A16-6E9EE14B3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0A735C4-91A6-FF6A-505E-49AF2973CF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4C44A98-34F5-83A2-0D87-4D62FF55F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57200"/>
            <a:ext cx="4911393" cy="1556724"/>
          </a:xfrm>
        </p:spPr>
        <p:txBody>
          <a:bodyPr anchor="b">
            <a:normAutofit/>
          </a:bodyPr>
          <a:lstStyle/>
          <a:p>
            <a:r>
              <a:rPr lang="fr-CA" dirty="0"/>
              <a:t>Exemple de sous-réseau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71D5A4C-8230-EE7B-C703-5BFA7A3881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1" y="2345635"/>
            <a:ext cx="4911392" cy="3583940"/>
          </a:xfrm>
        </p:spPr>
        <p:txBody>
          <a:bodyPr anchor="t">
            <a:normAutofit/>
          </a:bodyPr>
          <a:lstStyle/>
          <a:p>
            <a:r>
              <a:rPr lang="fr-CA" sz="1600" dirty="0"/>
              <a:t>Pour X : les ordinateurs derrière LAN sont tous dans le 192.168.0.0/16</a:t>
            </a:r>
          </a:p>
          <a:p>
            <a:pPr lvl="1"/>
            <a:endParaRPr lang="fr-CA" sz="1600" dirty="0"/>
          </a:p>
          <a:p>
            <a:r>
              <a:rPr lang="fr-CA" sz="1600" dirty="0"/>
              <a:t>Pour LAN : Il est connecté aux 2 réseaux 192.168.0.0/17 et 192.168.128.0/17</a:t>
            </a:r>
          </a:p>
          <a:p>
            <a:r>
              <a:rPr lang="fr-CA" sz="1600" dirty="0"/>
              <a:t>Pour A : B est dans le même réseau, C et D sont dans un autre réseau</a:t>
            </a:r>
          </a:p>
          <a:p>
            <a:r>
              <a:rPr lang="fr-CA" sz="1600" dirty="0"/>
              <a:t>Pour C : D est dans le même réseau, A et B sont dans un autre réseau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5823092-DB42-0C0D-6128-BF468D811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4639" y="1469096"/>
            <a:ext cx="5090161" cy="344858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47AB128-DB1E-2C35-1E39-43CD2A6AA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6400800"/>
            <a:ext cx="12191999" cy="457198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6">
                  <a:lumMod val="75000"/>
                  <a:alpha val="8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CC3EF54-6116-3ECC-987D-E2CAD1A6C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8"/>
            <a:ext cx="8153396" cy="448831"/>
          </a:xfrm>
          <a:prstGeom prst="rect">
            <a:avLst/>
          </a:prstGeom>
          <a:gradFill>
            <a:gsLst>
              <a:gs pos="0">
                <a:schemeClr val="accent5">
                  <a:alpha val="5000"/>
                </a:schemeClr>
              </a:gs>
              <a:gs pos="99000">
                <a:schemeClr val="accent5">
                  <a:alpha val="72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366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1D6A2A3-F101-46F7-8B6F-1C699CAFE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E64D488-9EBD-FFF9-0843-5F81045DE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57200"/>
            <a:ext cx="4911393" cy="1556724"/>
          </a:xfrm>
        </p:spPr>
        <p:txBody>
          <a:bodyPr anchor="b">
            <a:normAutofit/>
          </a:bodyPr>
          <a:lstStyle/>
          <a:p>
            <a:r>
              <a:rPr lang="fr-CA" dirty="0"/>
              <a:t>Exemple de sous-réseau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B4BAECE-0E67-6396-0230-0AE43DC2C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1" y="2345635"/>
            <a:ext cx="4911392" cy="3583940"/>
          </a:xfrm>
        </p:spPr>
        <p:txBody>
          <a:bodyPr anchor="t">
            <a:normAutofit/>
          </a:bodyPr>
          <a:lstStyle/>
          <a:p>
            <a:r>
              <a:rPr lang="fr-CA" sz="1600" dirty="0"/>
              <a:t>Le contrat : LAN dispose du réseau 192.168.0.0/16. Il en fait ce qu’il veut tant qu’il respecte ça.</a:t>
            </a:r>
          </a:p>
          <a:p>
            <a:r>
              <a:rPr lang="fr-CA" sz="1600" dirty="0"/>
              <a:t>X va avoir une route pour le 192.168.0.0/16 vers LAN.</a:t>
            </a:r>
          </a:p>
          <a:p>
            <a:r>
              <a:rPr lang="fr-CA" sz="1600" dirty="0"/>
              <a:t>X n’a pas à se soucier de comment le 192.168.0.0/16 est sous-divisé.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E24822F-2CE7-3467-0508-89FFB370E7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4639" y="1469096"/>
            <a:ext cx="5090161" cy="344858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29E760E-527D-4053-A309-F2BDE1250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6400800"/>
            <a:ext cx="12191999" cy="457198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6">
                  <a:lumMod val="75000"/>
                  <a:alpha val="8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53D448-4ED1-429A-A28C-8316DE7CA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8"/>
            <a:ext cx="8153396" cy="448831"/>
          </a:xfrm>
          <a:prstGeom prst="rect">
            <a:avLst/>
          </a:prstGeom>
          <a:gradFill>
            <a:gsLst>
              <a:gs pos="0">
                <a:schemeClr val="accent5">
                  <a:alpha val="5000"/>
                </a:schemeClr>
              </a:gs>
              <a:gs pos="99000">
                <a:schemeClr val="accent5">
                  <a:alpha val="72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024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905D47-7A9E-E1D4-85AA-E44B0BA50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Quelques calculs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E9956E2-049F-B421-0E39-BF77CE3834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Le nombre de sous-réseau que l’on peut créer = 2^n, n = nombre de bits emprunter.</a:t>
            </a:r>
          </a:p>
          <a:p>
            <a:r>
              <a:rPr lang="fr-CA" dirty="0"/>
              <a:t>Exemple : </a:t>
            </a:r>
          </a:p>
          <a:p>
            <a:pPr lvl="1"/>
            <a:r>
              <a:rPr lang="fr-CA" dirty="0"/>
              <a:t>Je dispose du 192.168.0.0/16</a:t>
            </a:r>
          </a:p>
          <a:p>
            <a:pPr lvl="1"/>
            <a:r>
              <a:rPr lang="fr-CA" dirty="0"/>
              <a:t>J’emprunte 3 bits. Je peux créer 8 sous-réseaux différents</a:t>
            </a:r>
          </a:p>
          <a:p>
            <a:pPr lvl="1"/>
            <a:r>
              <a:rPr lang="fr-CA" dirty="0">
                <a:solidFill>
                  <a:srgbClr val="00B0F0"/>
                </a:solidFill>
                <a:latin typeface="Consolas" panose="020B0609020204030204" pitchFamily="49" charset="0"/>
              </a:rPr>
              <a:t>1100 0000 . 1010 1000 </a:t>
            </a:r>
            <a:r>
              <a:rPr lang="fr-CA" dirty="0">
                <a:latin typeface="Consolas" panose="020B0609020204030204" pitchFamily="49" charset="0"/>
              </a:rPr>
              <a:t>. </a:t>
            </a:r>
            <a:r>
              <a:rPr lang="fr-CA" dirty="0">
                <a:solidFill>
                  <a:srgbClr val="FF0000"/>
                </a:solidFill>
                <a:latin typeface="Consolas" panose="020B0609020204030204" pitchFamily="49" charset="0"/>
              </a:rPr>
              <a:t>000</a:t>
            </a:r>
            <a:r>
              <a:rPr lang="fr-CA" dirty="0">
                <a:latin typeface="Consolas" panose="020B0609020204030204" pitchFamily="49" charset="0"/>
              </a:rPr>
              <a:t>0 0000 . 0000 0000 -&gt; 192.168.0.0/19</a:t>
            </a:r>
          </a:p>
          <a:p>
            <a:pPr lvl="1"/>
            <a:r>
              <a:rPr lang="fr-CA" dirty="0">
                <a:solidFill>
                  <a:srgbClr val="00B0F0"/>
                </a:solidFill>
                <a:latin typeface="Consolas" panose="020B0609020204030204" pitchFamily="49" charset="0"/>
              </a:rPr>
              <a:t>1100 0000 . 1010 1000 </a:t>
            </a:r>
            <a:r>
              <a:rPr lang="fr-CA" dirty="0">
                <a:latin typeface="Consolas" panose="020B0609020204030204" pitchFamily="49" charset="0"/>
              </a:rPr>
              <a:t>. </a:t>
            </a:r>
            <a:r>
              <a:rPr lang="fr-CA" dirty="0">
                <a:solidFill>
                  <a:srgbClr val="FF0000"/>
                </a:solidFill>
                <a:latin typeface="Consolas" panose="020B0609020204030204" pitchFamily="49" charset="0"/>
              </a:rPr>
              <a:t>001</a:t>
            </a:r>
            <a:r>
              <a:rPr lang="fr-CA" dirty="0">
                <a:latin typeface="Consolas" panose="020B0609020204030204" pitchFamily="49" charset="0"/>
              </a:rPr>
              <a:t>0 0000 . 0000 0000 -&gt; 192.168.32.0/19</a:t>
            </a:r>
          </a:p>
          <a:p>
            <a:pPr lvl="1"/>
            <a:r>
              <a:rPr lang="fr-CA" dirty="0">
                <a:solidFill>
                  <a:srgbClr val="00B0F0"/>
                </a:solidFill>
                <a:latin typeface="Consolas" panose="020B0609020204030204" pitchFamily="49" charset="0"/>
              </a:rPr>
              <a:t>1100 0000 . 1010 1000 </a:t>
            </a:r>
            <a:r>
              <a:rPr lang="fr-CA" dirty="0">
                <a:latin typeface="Consolas" panose="020B0609020204030204" pitchFamily="49" charset="0"/>
              </a:rPr>
              <a:t>. </a:t>
            </a:r>
            <a:r>
              <a:rPr lang="fr-CA" dirty="0">
                <a:solidFill>
                  <a:srgbClr val="FF0000"/>
                </a:solidFill>
                <a:latin typeface="Consolas" panose="020B0609020204030204" pitchFamily="49" charset="0"/>
              </a:rPr>
              <a:t>010</a:t>
            </a:r>
            <a:r>
              <a:rPr lang="fr-CA" dirty="0">
                <a:latin typeface="Consolas" panose="020B0609020204030204" pitchFamily="49" charset="0"/>
              </a:rPr>
              <a:t>0 0000 . 0000 0000 -&gt; 192.168.64.0/19</a:t>
            </a:r>
          </a:p>
          <a:p>
            <a:pPr lvl="1"/>
            <a:r>
              <a:rPr lang="fr-CA" dirty="0">
                <a:solidFill>
                  <a:srgbClr val="00B0F0"/>
                </a:solidFill>
                <a:latin typeface="Consolas" panose="020B0609020204030204" pitchFamily="49" charset="0"/>
              </a:rPr>
              <a:t>1100 0000 . 1010 1000 </a:t>
            </a:r>
            <a:r>
              <a:rPr lang="fr-CA" dirty="0">
                <a:latin typeface="Consolas" panose="020B0609020204030204" pitchFamily="49" charset="0"/>
              </a:rPr>
              <a:t>. </a:t>
            </a:r>
            <a:r>
              <a:rPr lang="fr-CA" dirty="0">
                <a:solidFill>
                  <a:srgbClr val="FF0000"/>
                </a:solidFill>
                <a:latin typeface="Consolas" panose="020B0609020204030204" pitchFamily="49" charset="0"/>
              </a:rPr>
              <a:t>011</a:t>
            </a:r>
            <a:r>
              <a:rPr lang="fr-CA" dirty="0">
                <a:latin typeface="Consolas" panose="020B0609020204030204" pitchFamily="49" charset="0"/>
              </a:rPr>
              <a:t>0 0000 . 0000 0000 -&gt; 192.168.96.0/19</a:t>
            </a:r>
          </a:p>
          <a:p>
            <a:pPr lvl="1"/>
            <a:r>
              <a:rPr lang="fr-CA" dirty="0">
                <a:latin typeface="Consolas" panose="020B0609020204030204" pitchFamily="49" charset="0"/>
              </a:rPr>
              <a:t>…</a:t>
            </a:r>
          </a:p>
          <a:p>
            <a:pPr lvl="1"/>
            <a:endParaRPr lang="fr-CA" dirty="0">
              <a:latin typeface="Consolas" panose="020B0609020204030204" pitchFamily="49" charset="0"/>
            </a:endParaRPr>
          </a:p>
          <a:p>
            <a:pPr lvl="1"/>
            <a:endParaRPr lang="fr-CA" dirty="0">
              <a:latin typeface="Consolas" panose="020B0609020204030204" pitchFamily="49" charset="0"/>
            </a:endParaRPr>
          </a:p>
          <a:p>
            <a:pPr lvl="1"/>
            <a:endParaRPr lang="fr-CA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6642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76E380-8D40-56E8-E183-AD580B1D1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Quelques calculs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53F4870-1C73-AAE5-1745-88F13034C6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Nombre d’hôtes dans un sous-réseau = 2^n -2, n = nombre de bits restant pour la partie hôte.</a:t>
            </a:r>
          </a:p>
          <a:p>
            <a:r>
              <a:rPr lang="fr-CA" dirty="0"/>
              <a:t>Exemple</a:t>
            </a:r>
          </a:p>
          <a:p>
            <a:pPr lvl="1"/>
            <a:r>
              <a:rPr lang="fr-CA" dirty="0"/>
              <a:t>Je dispose du 192.168.0.0/16</a:t>
            </a:r>
          </a:p>
          <a:p>
            <a:pPr lvl="1"/>
            <a:r>
              <a:rPr lang="fr-CA" dirty="0"/>
              <a:t>J’emprunte 3 bits. Je peux créer 8 sous-réseaux différents</a:t>
            </a:r>
          </a:p>
          <a:p>
            <a:pPr lvl="1"/>
            <a:r>
              <a:rPr lang="fr-CA" dirty="0"/>
              <a:t>J’utilise 19 bits pour la partie réseau. Il m’en reste 13 pour la partie hôte.</a:t>
            </a:r>
          </a:p>
          <a:p>
            <a:pPr lvl="2"/>
            <a:r>
              <a:rPr lang="fr-CA" dirty="0">
                <a:solidFill>
                  <a:srgbClr val="00B0F0"/>
                </a:solidFill>
                <a:latin typeface="Consolas" panose="020B0609020204030204" pitchFamily="49" charset="0"/>
              </a:rPr>
              <a:t>1100 0000 . 1010 1000 </a:t>
            </a:r>
            <a:r>
              <a:rPr lang="fr-CA" dirty="0">
                <a:latin typeface="Consolas" panose="020B0609020204030204" pitchFamily="49" charset="0"/>
              </a:rPr>
              <a:t>. </a:t>
            </a:r>
            <a:r>
              <a:rPr lang="fr-CA" dirty="0">
                <a:solidFill>
                  <a:srgbClr val="FF0000"/>
                </a:solidFill>
                <a:latin typeface="Consolas" panose="020B0609020204030204" pitchFamily="49" charset="0"/>
              </a:rPr>
              <a:t>000</a:t>
            </a:r>
            <a:r>
              <a:rPr lang="fr-CA" dirty="0">
                <a:solidFill>
                  <a:srgbClr val="00B050"/>
                </a:solidFill>
                <a:latin typeface="Consolas" panose="020B0609020204030204" pitchFamily="49" charset="0"/>
              </a:rPr>
              <a:t>0 0000</a:t>
            </a:r>
            <a:r>
              <a:rPr lang="fr-CA" dirty="0">
                <a:latin typeface="Consolas" panose="020B0609020204030204" pitchFamily="49" charset="0"/>
              </a:rPr>
              <a:t> . </a:t>
            </a:r>
            <a:r>
              <a:rPr lang="fr-CA" dirty="0">
                <a:solidFill>
                  <a:srgbClr val="00B050"/>
                </a:solidFill>
                <a:latin typeface="Consolas" panose="020B0609020204030204" pitchFamily="49" charset="0"/>
              </a:rPr>
              <a:t>0000 0000</a:t>
            </a:r>
            <a:endParaRPr lang="fr-CA" dirty="0">
              <a:solidFill>
                <a:srgbClr val="00B050"/>
              </a:solidFill>
            </a:endParaRPr>
          </a:p>
          <a:p>
            <a:pPr lvl="1"/>
            <a:r>
              <a:rPr lang="fr-CA" dirty="0"/>
              <a:t>2^13 – 2 = 8192 - 2 = 8190.</a:t>
            </a:r>
          </a:p>
          <a:p>
            <a:pPr lvl="1"/>
            <a:endParaRPr lang="fr-CA" dirty="0"/>
          </a:p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601680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179C4-7D6D-BFAB-9718-32BAB3182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C005B5-35CC-56A7-7B5C-015708C38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Pourquoi -2?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F2F6CBA-1DED-42CA-A465-70A593E6D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103120"/>
            <a:ext cx="10241280" cy="3959352"/>
          </a:xfrm>
        </p:spPr>
        <p:txBody>
          <a:bodyPr/>
          <a:lstStyle/>
          <a:p>
            <a:r>
              <a:rPr lang="fr-CA" dirty="0"/>
              <a:t>Il y a toujours 2 adresses réservées dans un réseau  : l’adresse de réseau, et l’adresse de diffusion.</a:t>
            </a:r>
          </a:p>
          <a:p>
            <a:r>
              <a:rPr lang="fr-CA" dirty="0"/>
              <a:t>Adresse réseau : tous les bits de la partie hôte sont à 0.</a:t>
            </a:r>
          </a:p>
          <a:p>
            <a:pPr lvl="1"/>
            <a:r>
              <a:rPr lang="fr-CA" dirty="0">
                <a:solidFill>
                  <a:srgbClr val="00B0F0"/>
                </a:solidFill>
                <a:latin typeface="Consolas" panose="020B0609020204030204" pitchFamily="49" charset="0"/>
              </a:rPr>
              <a:t>1100 0000 . 1010 1000 </a:t>
            </a:r>
            <a:r>
              <a:rPr lang="fr-CA" dirty="0">
                <a:latin typeface="Consolas" panose="020B0609020204030204" pitchFamily="49" charset="0"/>
              </a:rPr>
              <a:t>. </a:t>
            </a:r>
            <a:r>
              <a:rPr lang="fr-CA" dirty="0">
                <a:solidFill>
                  <a:srgbClr val="FF0000"/>
                </a:solidFill>
                <a:latin typeface="Consolas" panose="020B0609020204030204" pitchFamily="49" charset="0"/>
              </a:rPr>
              <a:t>000</a:t>
            </a:r>
            <a:r>
              <a:rPr lang="fr-CA" dirty="0">
                <a:solidFill>
                  <a:srgbClr val="00B050"/>
                </a:solidFill>
                <a:latin typeface="Consolas" panose="020B0609020204030204" pitchFamily="49" charset="0"/>
              </a:rPr>
              <a:t>0 0000</a:t>
            </a:r>
            <a:r>
              <a:rPr lang="fr-CA" dirty="0">
                <a:latin typeface="Consolas" panose="020B0609020204030204" pitchFamily="49" charset="0"/>
              </a:rPr>
              <a:t> . </a:t>
            </a:r>
            <a:r>
              <a:rPr lang="fr-CA" dirty="0">
                <a:solidFill>
                  <a:srgbClr val="00B050"/>
                </a:solidFill>
                <a:latin typeface="Consolas" panose="020B0609020204030204" pitchFamily="49" charset="0"/>
              </a:rPr>
              <a:t>0000 0000 </a:t>
            </a:r>
            <a:r>
              <a:rPr lang="fr-CA" dirty="0">
                <a:latin typeface="Consolas" panose="020B0609020204030204" pitchFamily="49" charset="0"/>
              </a:rPr>
              <a:t>-&gt; 192.168.0.0</a:t>
            </a:r>
          </a:p>
          <a:p>
            <a:r>
              <a:rPr lang="fr-CA" dirty="0"/>
              <a:t>Adresse de diffusion : tous les bits de la partie hôte sont à 1.</a:t>
            </a:r>
          </a:p>
          <a:p>
            <a:pPr lvl="1"/>
            <a:r>
              <a:rPr lang="fr-CA" dirty="0">
                <a:solidFill>
                  <a:srgbClr val="00B0F0"/>
                </a:solidFill>
                <a:latin typeface="Consolas" panose="020B0609020204030204" pitchFamily="49" charset="0"/>
              </a:rPr>
              <a:t>1100 0000 . 1010 1000 </a:t>
            </a:r>
            <a:r>
              <a:rPr lang="fr-CA" dirty="0">
                <a:latin typeface="Consolas" panose="020B0609020204030204" pitchFamily="49" charset="0"/>
              </a:rPr>
              <a:t>. </a:t>
            </a:r>
            <a:r>
              <a:rPr lang="fr-CA" dirty="0">
                <a:solidFill>
                  <a:srgbClr val="FF0000"/>
                </a:solidFill>
                <a:latin typeface="Consolas" panose="020B0609020204030204" pitchFamily="49" charset="0"/>
              </a:rPr>
              <a:t>000</a:t>
            </a:r>
            <a:r>
              <a:rPr lang="fr-CA" dirty="0">
                <a:solidFill>
                  <a:srgbClr val="00B050"/>
                </a:solidFill>
                <a:latin typeface="Consolas" panose="020B0609020204030204" pitchFamily="49" charset="0"/>
              </a:rPr>
              <a:t>1 1111</a:t>
            </a:r>
            <a:r>
              <a:rPr lang="fr-CA" dirty="0">
                <a:latin typeface="Consolas" panose="020B0609020204030204" pitchFamily="49" charset="0"/>
              </a:rPr>
              <a:t> . </a:t>
            </a:r>
            <a:r>
              <a:rPr lang="fr-CA" dirty="0">
                <a:solidFill>
                  <a:srgbClr val="00B050"/>
                </a:solidFill>
                <a:latin typeface="Consolas" panose="020B0609020204030204" pitchFamily="49" charset="0"/>
              </a:rPr>
              <a:t>1111 1111 </a:t>
            </a:r>
            <a:r>
              <a:rPr lang="fr-CA" dirty="0">
                <a:latin typeface="Consolas" panose="020B0609020204030204" pitchFamily="49" charset="0"/>
              </a:rPr>
              <a:t>-&gt; 192.168.31.255</a:t>
            </a:r>
          </a:p>
          <a:p>
            <a:pPr lvl="1"/>
            <a:r>
              <a:rPr lang="fr-CA" dirty="0"/>
              <a:t>L’Adresse IP de diffusion est, entre autres, utilisée pour les requêtes DHCP.</a:t>
            </a:r>
          </a:p>
          <a:p>
            <a:endParaRPr lang="fr-CA" dirty="0">
              <a:solidFill>
                <a:srgbClr val="00B050"/>
              </a:solidFill>
            </a:endParaRPr>
          </a:p>
          <a:p>
            <a:endParaRPr lang="fr-CA" dirty="0"/>
          </a:p>
          <a:p>
            <a:pPr lvl="1"/>
            <a:endParaRPr lang="fr-CA" dirty="0"/>
          </a:p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93109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F1B99D-AE5E-F932-30AA-D7AD34317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 anchor="ctr">
            <a:normAutofit/>
          </a:bodyPr>
          <a:lstStyle/>
          <a:p>
            <a:pPr algn="ctr"/>
            <a:r>
              <a:rPr lang="fr-CA" dirty="0"/>
              <a:t>Quelles adresses est-ce que je peux utiliser dans mon LAN?</a:t>
            </a:r>
          </a:p>
        </p:txBody>
      </p:sp>
    </p:spTree>
    <p:extLst>
      <p:ext uri="{BB962C8B-B14F-4D97-AF65-F5344CB8AC3E}">
        <p14:creationId xmlns:p14="http://schemas.microsoft.com/office/powerpoint/2010/main" val="12358377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916E3D-0F7C-0111-22D9-AE59D1E88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Réseaux réservés aux LAN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3CB41A6-42BA-496F-E76D-D5418B28CD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10.0.0.0/8</a:t>
            </a:r>
          </a:p>
          <a:p>
            <a:r>
              <a:rPr lang="fr-CA" dirty="0"/>
              <a:t>172.16.0.0/12</a:t>
            </a:r>
          </a:p>
          <a:p>
            <a:r>
              <a:rPr lang="fr-CA" dirty="0"/>
              <a:t>192.168.0.0/16</a:t>
            </a:r>
          </a:p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580394286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RiseVTI">
  <a:themeElements>
    <a:clrScheme name="GradientRise">
      <a:dk1>
        <a:sysClr val="windowText" lastClr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Avenir">
      <a:majorFont>
        <a:latin typeface="Gill Sans Nova"/>
        <a:ea typeface=""/>
        <a:cs typeface=""/>
      </a:majorFont>
      <a:minorFont>
        <a:latin typeface="Gill Sans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RiseVTI" id="{C2FC082F-B444-4222-AF20-78444CCB5722}" vid="{39F213E4-0CBC-40CB-B3F6-8C5562B6B99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1010</TotalTime>
  <Words>547</Words>
  <Application>Microsoft Office PowerPoint</Application>
  <PresentationFormat>Widescreen</PresentationFormat>
  <Paragraphs>63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Consolas</vt:lpstr>
      <vt:lpstr>Gill Sans Nova</vt:lpstr>
      <vt:lpstr>GradientRiseVTI</vt:lpstr>
      <vt:lpstr>INF-216 Réseaux et connectivité</vt:lpstr>
      <vt:lpstr>Segmentation</vt:lpstr>
      <vt:lpstr>Sous-réseau</vt:lpstr>
      <vt:lpstr>Exemple sous-réseau</vt:lpstr>
      <vt:lpstr>Exemple de sous-réseau</vt:lpstr>
      <vt:lpstr>Exemple de sous-réseau</vt:lpstr>
      <vt:lpstr>Quelques calculs</vt:lpstr>
      <vt:lpstr>Quelques calculs</vt:lpstr>
      <vt:lpstr>Pourquoi -2?</vt:lpstr>
      <vt:lpstr>Quelles adresses est-ce que je peux utiliser dans mon LAN?</vt:lpstr>
      <vt:lpstr>Réseaux réservés aux LAN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INF-216 Réseaux et connectivité</dc:title>
  <dc:creator>Guillaume Courtemanche</dc:creator>
  <cp:lastModifiedBy>Guillaume Courtemanche</cp:lastModifiedBy>
  <cp:revision>1</cp:revision>
  <dcterms:created xsi:type="dcterms:W3CDTF">2021-01-21T13:25:31Z</dcterms:created>
  <dcterms:modified xsi:type="dcterms:W3CDTF">2026-03-16T18:39:31Z</dcterms:modified>
</cp:coreProperties>
</file>
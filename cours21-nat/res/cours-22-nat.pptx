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3" r:id="rId1"/>
  </p:sldMasterIdLst>
  <p:notesMasterIdLst>
    <p:notesMasterId r:id="rId16"/>
  </p:notesMasterIdLst>
  <p:sldIdLst>
    <p:sldId id="256" r:id="rId2"/>
    <p:sldId id="266" r:id="rId3"/>
    <p:sldId id="267" r:id="rId4"/>
    <p:sldId id="268" r:id="rId5"/>
    <p:sldId id="270" r:id="rId6"/>
    <p:sldId id="269" r:id="rId7"/>
    <p:sldId id="271" r:id="rId8"/>
    <p:sldId id="272" r:id="rId9"/>
    <p:sldId id="280" r:id="rId10"/>
    <p:sldId id="281" r:id="rId11"/>
    <p:sldId id="282" r:id="rId12"/>
    <p:sldId id="283" r:id="rId13"/>
    <p:sldId id="284" r:id="rId14"/>
    <p:sldId id="285" r:id="rId15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illaume Courtemanche" userId="e091c02d-bff7-4081-aa13-b3664ffbaa88" providerId="ADAL" clId="{5C7DF9F1-070C-46A0-96EC-A456FE7AA55D}"/>
    <pc:docChg chg="undo custSel delSld modSld">
      <pc:chgData name="Guillaume Courtemanche" userId="e091c02d-bff7-4081-aa13-b3664ffbaa88" providerId="ADAL" clId="{5C7DF9F1-070C-46A0-96EC-A456FE7AA55D}" dt="2026-03-30T18:46:15.044" v="102" actId="20577"/>
      <pc:docMkLst>
        <pc:docMk/>
      </pc:docMkLst>
      <pc:sldChg chg="modSp mod">
        <pc:chgData name="Guillaume Courtemanche" userId="e091c02d-bff7-4081-aa13-b3664ffbaa88" providerId="ADAL" clId="{5C7DF9F1-070C-46A0-96EC-A456FE7AA55D}" dt="2026-03-16T20:05:35.663" v="2" actId="20577"/>
        <pc:sldMkLst>
          <pc:docMk/>
          <pc:sldMk cId="3220683002" sldId="256"/>
        </pc:sldMkLst>
        <pc:spChg chg="mod">
          <ac:chgData name="Guillaume Courtemanche" userId="e091c02d-bff7-4081-aa13-b3664ffbaa88" providerId="ADAL" clId="{5C7DF9F1-070C-46A0-96EC-A456FE7AA55D}" dt="2026-03-16T20:05:35.663" v="2" actId="20577"/>
          <ac:spMkLst>
            <pc:docMk/>
            <pc:sldMk cId="3220683002" sldId="256"/>
            <ac:spMk id="3" creationId="{E0035385-2D49-479F-8DE9-6C010CBDDB69}"/>
          </ac:spMkLst>
        </pc:spChg>
      </pc:sldChg>
      <pc:sldChg chg="modSp mod">
        <pc:chgData name="Guillaume Courtemanche" userId="e091c02d-bff7-4081-aa13-b3664ffbaa88" providerId="ADAL" clId="{5C7DF9F1-070C-46A0-96EC-A456FE7AA55D}" dt="2026-03-30T18:46:06.791" v="100" actId="20577"/>
        <pc:sldMkLst>
          <pc:docMk/>
          <pc:sldMk cId="3374721023" sldId="269"/>
        </pc:sldMkLst>
        <pc:spChg chg="mod">
          <ac:chgData name="Guillaume Courtemanche" userId="e091c02d-bff7-4081-aa13-b3664ffbaa88" providerId="ADAL" clId="{5C7DF9F1-070C-46A0-96EC-A456FE7AA55D}" dt="2026-03-30T18:46:06.791" v="100" actId="20577"/>
          <ac:spMkLst>
            <pc:docMk/>
            <pc:sldMk cId="3374721023" sldId="269"/>
            <ac:spMk id="3" creationId="{3E61C0A6-F511-7E7E-8D5A-374AF37647D1}"/>
          </ac:spMkLst>
        </pc:spChg>
      </pc:sldChg>
      <pc:sldChg chg="modSp mod">
        <pc:chgData name="Guillaume Courtemanche" userId="e091c02d-bff7-4081-aa13-b3664ffbaa88" providerId="ADAL" clId="{5C7DF9F1-070C-46A0-96EC-A456FE7AA55D}" dt="2026-03-30T18:46:15.044" v="102" actId="20577"/>
        <pc:sldMkLst>
          <pc:docMk/>
          <pc:sldMk cId="67883723" sldId="271"/>
        </pc:sldMkLst>
        <pc:spChg chg="mod">
          <ac:chgData name="Guillaume Courtemanche" userId="e091c02d-bff7-4081-aa13-b3664ffbaa88" providerId="ADAL" clId="{5C7DF9F1-070C-46A0-96EC-A456FE7AA55D}" dt="2026-03-30T18:46:15.044" v="102" actId="20577"/>
          <ac:spMkLst>
            <pc:docMk/>
            <pc:sldMk cId="67883723" sldId="271"/>
            <ac:spMk id="3" creationId="{D9135BFA-AE85-F173-C6C6-787E452B403B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CA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85EF72-DB56-49BC-8F97-985FF840A1F3}" type="datetimeFigureOut">
              <a:rPr lang="fr-CA" smtClean="0"/>
              <a:t>2026-03-30</a:t>
            </a:fld>
            <a:endParaRPr lang="fr-CA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CA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A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CA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71C9F8-A7FA-4D7A-BDF4-C10A8162F8B4}" type="slidenum">
              <a:rPr lang="fr-CA" smtClean="0"/>
              <a:t>‹#›</a:t>
            </a:fld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0372759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B674CB-3709-4ACF-BB61-29ADEA3D41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033272"/>
            <a:ext cx="9144000" cy="2478024"/>
          </a:xfrm>
        </p:spPr>
        <p:txBody>
          <a:bodyPr lIns="0" tIns="0" rIns="0" bIns="0" anchor="b">
            <a:noAutofit/>
          </a:bodyPr>
          <a:lstStyle>
            <a:lvl1pPr algn="ctr">
              <a:defRPr sz="4000" spc="750"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6DA6BE-9B64-48FC-92D1-EF0D426A39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822192"/>
            <a:ext cx="9144000" cy="1435608"/>
          </a:xfrm>
        </p:spPr>
        <p:txBody>
          <a:bodyPr lIns="0" tIns="0" rIns="0" bIns="0">
            <a:normAutofit/>
          </a:bodyPr>
          <a:lstStyle>
            <a:lvl1pPr marL="0" indent="0" algn="ctr">
              <a:lnSpc>
                <a:spcPct val="150000"/>
              </a:lnSpc>
              <a:buNone/>
              <a:defRPr sz="1600" cap="all" spc="60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83AE59-8E21-449F-86DA-5BE2970108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5A5808-3B61-48CC-92EF-85AC2E0DFA56}" type="datetime2">
              <a:rPr lang="en-US" smtClean="0"/>
              <a:t>Monday, March 30,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8CCD60-9970-49FD-8254-21154BAA1E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C0A488-07A7-42F9-B1DF-68545B7541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46758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FE0F35-0AE7-48AB-9005-F1DB4BD0B4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DD4022-C31F-4C4C-B5BF-5F9730C08A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A45EE9-11D3-436C-9D73-1AA6CCDB16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3AF3C6-0FD4-4939-991C-00DDE5C56815}" type="datetime2">
              <a:rPr lang="en-US" smtClean="0"/>
              <a:t>Monday, March 30,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817DCF-881F-4956-81AE-A6D27A88F4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65F17-AD75-4B7E-970D-5D4DBD5D17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34795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8C12CB-05D8-4D62-BDC5-812DB6DD04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1709738"/>
            <a:ext cx="9966960" cy="2852737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4400" spc="75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52F020-8516-4B9E-B455-5731ED6C9E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4974336"/>
            <a:ext cx="9966961" cy="1115568"/>
          </a:xfrm>
        </p:spPr>
        <p:txBody>
          <a:bodyPr>
            <a:normAutofit/>
          </a:bodyPr>
          <a:lstStyle>
            <a:lvl1pPr marL="0" indent="0">
              <a:buNone/>
              <a:defRPr sz="1600" cap="all" spc="600" baseline="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22993-6E28-44BB-B983-095B476B80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807482-8128-47C6-A8DD-6452B0291CFF}" type="datetime2">
              <a:rPr lang="en-US" smtClean="0"/>
              <a:t>Monday, March 30,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909971-06C9-462B-81D9-BEF24C708A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9A076D-47C1-49CD-9A8B-956DB3FC31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01870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28DFBD-F5ED-455C-8AD0-97476A55E3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30E58C-F463-4D52-9225-9410133113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371600" y="2112264"/>
            <a:ext cx="4846320" cy="39593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F7BDB4-97FA-485D-A557-6F96692BAC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766560" y="2112265"/>
            <a:ext cx="4846320" cy="39593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8C50007-C799-4117-8ACD-5EE980E63F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903F25-275E-41DE-BE3B-EBF0DB49F9B1}" type="datetime2">
              <a:rPr lang="en-US" smtClean="0"/>
              <a:t>Monday, March 30, 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4E8968-6BAD-4D5A-BF1D-911C7A39C1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9D8C08-BF20-4D5E-9004-0C075C36D8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70209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036E0D-26A5-455A-A8BD-70DA8BC03E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2112264"/>
            <a:ext cx="484107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FD4EA0-094D-4056-9032-BFB44B4089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371600" y="3018472"/>
            <a:ext cx="4841076" cy="31048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FC0CCE8-718F-4620-8B4A-C60EEA7B884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766560" y="2112264"/>
            <a:ext cx="484632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6CE86DF-0069-4D31-BDD3-A9A2F9B7B46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766560" y="3018471"/>
            <a:ext cx="4841076" cy="31048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1A5ED06-FE54-4B86-A8D4-07D0EB08C3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75572-4A44-4171-84AA-64D42C8050A6}" type="datetime2">
              <a:rPr lang="en-US" smtClean="0"/>
              <a:t>Monday, March 30, 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E9EC6C3-0950-4AFE-936A-9AB5D22784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784B1D1-BE0C-48F4-BC74-90675A0F07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2D453288-3D76-40C1-BE00-223AB28F1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31876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3B1716-24B0-42CD-95B6-843092597B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9E3617E-4B11-481F-AC6E-0003179029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C1612E-528E-4FD5-9E9E-E15F1108F171}" type="datetime2">
              <a:rPr lang="en-US" smtClean="0"/>
              <a:t>Monday, March 30, 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6BF19CC-06D3-40E9-81B5-63B457B220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AEFC312-3AA5-46F7-B701-3D9327A68D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83474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8C9E28E-1389-47AF-B3EB-22571417A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6D862-A06D-436F-A92E-EBAAD50B6E50}" type="datetime2">
              <a:rPr lang="en-US" smtClean="0"/>
              <a:t>Monday, March 30, 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FCF6B08-1984-4F7C-9F6E-A4F47BDBA2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71B3C5-CEC7-427F-931C-1318C421B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09960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4EB55F-536E-4547-A5D2-0483FC3684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987425"/>
            <a:ext cx="3932237" cy="1894511"/>
          </a:xfrm>
        </p:spPr>
        <p:txBody>
          <a:bodyPr anchor="b"/>
          <a:lstStyle>
            <a:lvl1pPr>
              <a:lnSpc>
                <a:spcPct val="100000"/>
              </a:lnSpc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717D3C-533B-4EA9-886B-FAE59956C7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650992" y="987425"/>
            <a:ext cx="5687568" cy="4873625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19D2E1-4B17-4608-961E-2C4719855E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371600" y="3058510"/>
            <a:ext cx="3932237" cy="280254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5A3535-184C-438C-AE91-9C42B7C5AF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3E0B7D-2260-4809-8F0A-9E5F3E24F169}" type="datetime2">
              <a:rPr lang="en-US" smtClean="0"/>
              <a:t>Monday, March 30, 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F6DBC3-4A58-42BA-9B55-A9A7251037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4E6563-0AB6-4038-A12B-A259552DB6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26631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9702C5-1E3B-4C62-A538-59BB572864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987552"/>
            <a:ext cx="3932237" cy="1892808"/>
          </a:xfrm>
        </p:spPr>
        <p:txBody>
          <a:bodyPr anchor="b"/>
          <a:lstStyle>
            <a:lvl1pPr>
              <a:defRPr sz="3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E2CF574-95CE-4E60-B2CF-3B5B4F33A7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505319" y="987425"/>
            <a:ext cx="5833242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039F7C-C735-4356-8B04-89E19047950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371600" y="3033286"/>
            <a:ext cx="3932237" cy="2835702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E706DF-52A3-4F34-9BF5-E1ACD5D542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E4735-C637-46A3-94EB-AB3AC4188D2F}" type="datetime2">
              <a:rPr lang="en-US" smtClean="0"/>
              <a:t>Monday, March 30, 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FB25E53-E72E-4110-BB6B-3477F56C30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686F8F-3D62-4CEC-AD9A-B70848E6A8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36504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9DC3B6-2D75-4EC4-9120-88DCE0EA61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74B06CB-A0FE-4499-B674-90C8C281A5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7FD700-765A-4DE6-A8EC-9D9D92FCBB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5E98AF-4574-4509-BF7A-519ACD5BF826}" type="datetime2">
              <a:rPr lang="en-US" smtClean="0"/>
              <a:t>Monday, March 30,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4664EC-C4B1-4D14-9ED3-14C6CCBFFC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DF5526-E518-4133-9F44-D812576C1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17844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5F62998-15B1-4CA8-8C60-7801001F806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838899"/>
            <a:ext cx="2628900" cy="48493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11AE278-0885-4594-AB09-120344C7D8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49235" y="838900"/>
            <a:ext cx="7723265" cy="48493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B850CC-FB43-4988-8D4E-9C54C20185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DD97D4-9636-490F-85D0-E926C2B6F3B1}" type="datetime2">
              <a:rPr lang="en-US" smtClean="0"/>
              <a:t>Monday, March 30,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A70300-3853-4FB4-A084-CF6E5CF2B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DBAFB0-25AA-4B69-8418-418F47A927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389E6-C847-4AD0-B56D-D205B2EAB1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93079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CCF2F3BB-127D-44BC-A8EF-A8BB5F5911CA}"/>
              </a:ext>
            </a:extLst>
          </p:cNvPr>
          <p:cNvSpPr/>
          <p:nvPr/>
        </p:nvSpPr>
        <p:spPr>
          <a:xfrm rot="10800000" flipH="1">
            <a:off x="0" y="6401226"/>
            <a:ext cx="12192000" cy="456773"/>
          </a:xfrm>
          <a:prstGeom prst="rect">
            <a:avLst/>
          </a:prstGeom>
          <a:gradFill>
            <a:gsLst>
              <a:gs pos="14000">
                <a:schemeClr val="accent4">
                  <a:alpha val="28000"/>
                </a:schemeClr>
              </a:gs>
              <a:gs pos="100000">
                <a:schemeClr val="accent5">
                  <a:alpha val="8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10D1F30-F118-4A1F-A48F-7E5706959F64}"/>
              </a:ext>
            </a:extLst>
          </p:cNvPr>
          <p:cNvSpPr/>
          <p:nvPr/>
        </p:nvSpPr>
        <p:spPr>
          <a:xfrm flipH="1">
            <a:off x="4038602" y="6401228"/>
            <a:ext cx="8153398" cy="456772"/>
          </a:xfrm>
          <a:prstGeom prst="rect">
            <a:avLst/>
          </a:prstGeom>
          <a:gradFill>
            <a:gsLst>
              <a:gs pos="9000">
                <a:schemeClr val="accent2">
                  <a:lumMod val="60000"/>
                  <a:lumOff val="40000"/>
                  <a:alpha val="55000"/>
                </a:schemeClr>
              </a:gs>
              <a:gs pos="99000">
                <a:schemeClr val="accent2"/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7AE890C-17CE-44C0-BDED-BA68F92A84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795528"/>
            <a:ext cx="10241280" cy="1234440"/>
          </a:xfrm>
          <a:prstGeom prst="rect">
            <a:avLst/>
          </a:prstGeom>
        </p:spPr>
        <p:txBody>
          <a:bodyPr vert="horz" lIns="0" tIns="0" rIns="0" bIns="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910A6E-46D1-42CF-996C-2207737FB8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71600" y="2112264"/>
            <a:ext cx="10241280" cy="3959352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5B5247-D236-462B-BCE0-2A24DF75B08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909560" y="6409944"/>
            <a:ext cx="3703320" cy="4480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cap="all" spc="300" baseline="0">
                <a:solidFill>
                  <a:srgbClr val="FFFFFF"/>
                </a:solidFill>
              </a:defRPr>
            </a:lvl1pPr>
          </a:lstStyle>
          <a:p>
            <a:fld id="{AE0C963C-C1DB-4AFD-9DDC-0691666BF49B}" type="datetime2">
              <a:rPr lang="en-US" smtClean="0"/>
              <a:pPr/>
              <a:t>Monday, March 30, 2026</a:t>
            </a:fld>
            <a:endParaRPr lang="en-US" cap="all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155C58-7DDF-4CD4-96AD-F9CC844D84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-1828800" y="1911096"/>
            <a:ext cx="4114800" cy="457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b="1">
                <a:solidFill>
                  <a:schemeClr val="tx1"/>
                </a:solidFill>
                <a:latin typeface="+mj-lt"/>
              </a:defRPr>
            </a:lvl1pPr>
          </a:lstStyle>
          <a:p>
            <a:pPr algn="l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495647-A849-45D9-BC71-46A12E6DE47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67744" y="6409944"/>
            <a:ext cx="438912" cy="4480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fld id="{C01389E6-C847-4AD0-B56D-D205B2EAB1EE}" type="slidenum">
              <a:rPr lang="en-US" smtClean="0"/>
              <a:pPr/>
              <a:t>‹#›</a:t>
            </a:fld>
            <a:endParaRPr lang="en-US" sz="800" dirty="0"/>
          </a:p>
        </p:txBody>
      </p:sp>
    </p:spTree>
    <p:extLst>
      <p:ext uri="{BB962C8B-B14F-4D97-AF65-F5344CB8AC3E}">
        <p14:creationId xmlns:p14="http://schemas.microsoft.com/office/powerpoint/2010/main" val="12862840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8" r:id="rId1"/>
    <p:sldLayoutId id="2147483669" r:id="rId2"/>
    <p:sldLayoutId id="2147483670" r:id="rId3"/>
    <p:sldLayoutId id="2147483671" r:id="rId4"/>
    <p:sldLayoutId id="2147483672" r:id="rId5"/>
    <p:sldLayoutId id="2147483666" r:id="rId6"/>
    <p:sldLayoutId id="2147483662" r:id="rId7"/>
    <p:sldLayoutId id="2147483663" r:id="rId8"/>
    <p:sldLayoutId id="2147483664" r:id="rId9"/>
    <p:sldLayoutId id="2147483665" r:id="rId10"/>
    <p:sldLayoutId id="2147483667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b="1" i="0" kern="1200" cap="all" spc="7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7.svg"/><Relationship Id="rId4" Type="http://schemas.openxmlformats.org/officeDocument/2006/relationships/image" Target="../media/image6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CE9E2ED-2BB1-46AE-A037-86EC1BFB33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1ADEB8F4-9DED-431C-9854-887FFAA60C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71600" y="1228550"/>
            <a:ext cx="4350870" cy="2947210"/>
          </a:xfrm>
        </p:spPr>
        <p:txBody>
          <a:bodyPr anchor="t">
            <a:normAutofit/>
          </a:bodyPr>
          <a:lstStyle/>
          <a:p>
            <a:pPr algn="l"/>
            <a:r>
              <a:rPr lang="fr-CA" sz="3100">
                <a:ln w="15875">
                  <a:solidFill>
                    <a:schemeClr val="tx1"/>
                  </a:solidFill>
                </a:ln>
              </a:rPr>
              <a:t>INF-216 Réseaux et connectivité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E0035385-2D49-479F-8DE9-6C010CBDDB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4389120"/>
            <a:ext cx="4210167" cy="1192815"/>
          </a:xfrm>
        </p:spPr>
        <p:txBody>
          <a:bodyPr anchor="b">
            <a:normAutofit/>
          </a:bodyPr>
          <a:lstStyle/>
          <a:p>
            <a:pPr algn="l"/>
            <a:r>
              <a:rPr lang="fr-CA" sz="1400" dirty="0">
                <a:ln w="12700">
                  <a:solidFill>
                    <a:schemeClr val="tx1"/>
                  </a:solidFill>
                </a:ln>
              </a:rPr>
              <a:t>NAT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28B54C3-B57B-472A-B96E-1FCB67093D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23337" y="-3"/>
            <a:ext cx="3611463" cy="6858000"/>
          </a:xfrm>
          <a:prstGeom prst="rect">
            <a:avLst/>
          </a:prstGeom>
          <a:gradFill>
            <a:gsLst>
              <a:gs pos="0">
                <a:schemeClr val="accent5">
                  <a:alpha val="77000"/>
                </a:schemeClr>
              </a:gs>
              <a:gs pos="100000">
                <a:schemeClr val="tx2">
                  <a:lumMod val="50000"/>
                  <a:lumOff val="50000"/>
                  <a:alpha val="52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4C9F2B0-1044-46EB-8AEB-C3BFFDE6C2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23336" y="-3"/>
            <a:ext cx="4068664" cy="6858000"/>
          </a:xfrm>
          <a:prstGeom prst="rect">
            <a:avLst/>
          </a:prstGeom>
          <a:gradFill>
            <a:gsLst>
              <a:gs pos="22000">
                <a:schemeClr val="accent2">
                  <a:alpha val="69000"/>
                </a:schemeClr>
              </a:gs>
              <a:gs pos="99000">
                <a:schemeClr val="accent4">
                  <a:alpha val="74000"/>
                </a:schemeClr>
              </a:gs>
            </a:gsLst>
            <a:lin ang="9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DB3C429-F8DA-49B9-AF84-21996FCF7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426853" y="-345671"/>
            <a:ext cx="3429002" cy="4120348"/>
          </a:xfrm>
          <a:prstGeom prst="rect">
            <a:avLst/>
          </a:prstGeom>
          <a:gradFill>
            <a:gsLst>
              <a:gs pos="0">
                <a:schemeClr val="accent5">
                  <a:alpha val="26000"/>
                </a:schemeClr>
              </a:gs>
              <a:gs pos="49000">
                <a:schemeClr val="tx2">
                  <a:lumMod val="75000"/>
                  <a:lumOff val="25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45303CF1-9C40-41EA-8BDC-4120653F111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3232" r="11768" b="1"/>
          <a:stretch/>
        </p:blipFill>
        <p:spPr>
          <a:xfrm>
            <a:off x="6096000" y="1012536"/>
            <a:ext cx="4756162" cy="4756162"/>
          </a:xfrm>
          <a:custGeom>
            <a:avLst/>
            <a:gdLst/>
            <a:ahLst/>
            <a:cxnLst/>
            <a:rect l="l" t="t" r="r" b="b"/>
            <a:pathLst>
              <a:path w="5031136" h="5031136">
                <a:moveTo>
                  <a:pt x="2515568" y="0"/>
                </a:moveTo>
                <a:cubicBezTo>
                  <a:pt x="3904878" y="0"/>
                  <a:pt x="5031136" y="1126258"/>
                  <a:pt x="5031136" y="2515568"/>
                </a:cubicBezTo>
                <a:cubicBezTo>
                  <a:pt x="5031136" y="3904878"/>
                  <a:pt x="3904878" y="5031136"/>
                  <a:pt x="2515568" y="5031136"/>
                </a:cubicBezTo>
                <a:cubicBezTo>
                  <a:pt x="1126258" y="5031136"/>
                  <a:pt x="0" y="3904878"/>
                  <a:pt x="0" y="2515568"/>
                </a:cubicBezTo>
                <a:cubicBezTo>
                  <a:pt x="0" y="1126258"/>
                  <a:pt x="1126258" y="0"/>
                  <a:pt x="2515568" y="0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32206830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FF1B99D-AE5E-F932-30AA-D7AD34317F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8000"/>
          </a:xfrm>
        </p:spPr>
        <p:txBody>
          <a:bodyPr anchor="ctr">
            <a:normAutofit/>
          </a:bodyPr>
          <a:lstStyle/>
          <a:p>
            <a:pPr algn="ctr"/>
            <a:r>
              <a:rPr lang="fr-CA" dirty="0"/>
              <a:t>Quelles adresses est-ce que je peux utiliser dans mon LAN?</a:t>
            </a:r>
          </a:p>
        </p:txBody>
      </p:sp>
    </p:spTree>
    <p:extLst>
      <p:ext uri="{BB962C8B-B14F-4D97-AF65-F5344CB8AC3E}">
        <p14:creationId xmlns:p14="http://schemas.microsoft.com/office/powerpoint/2010/main" val="12358377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4916E3D-0F7C-0111-22D9-AE59D1E881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Réseaux réservés aux LAN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3CB41A6-42BA-496F-E76D-D5418B28CD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 dirty="0"/>
              <a:t>10.0.0.0/8</a:t>
            </a:r>
          </a:p>
          <a:p>
            <a:r>
              <a:rPr lang="fr-CA" dirty="0"/>
              <a:t>172.16.0.0/12</a:t>
            </a:r>
          </a:p>
          <a:p>
            <a:r>
              <a:rPr lang="fr-CA" dirty="0"/>
              <a:t>192.168.0.0/16</a:t>
            </a:r>
          </a:p>
          <a:p>
            <a:endParaRPr lang="fr-CA" dirty="0"/>
          </a:p>
        </p:txBody>
      </p:sp>
    </p:spTree>
    <p:extLst>
      <p:ext uri="{BB962C8B-B14F-4D97-AF65-F5344CB8AC3E}">
        <p14:creationId xmlns:p14="http://schemas.microsoft.com/office/powerpoint/2010/main" val="5803942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CAD769-9A53-B622-BA42-9279D61F3E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3093A2B-FE49-871E-62FB-4D419FED07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8000"/>
          </a:xfrm>
        </p:spPr>
        <p:txBody>
          <a:bodyPr anchor="ctr">
            <a:normAutofit/>
          </a:bodyPr>
          <a:lstStyle/>
          <a:p>
            <a:pPr algn="ctr"/>
            <a:r>
              <a:rPr lang="fr-CA" dirty="0"/>
              <a:t>Si plusieurs </a:t>
            </a:r>
            <a:r>
              <a:rPr lang="fr-CA" dirty="0" err="1"/>
              <a:t>lan</a:t>
            </a:r>
            <a:r>
              <a:rPr lang="fr-CA" dirty="0"/>
              <a:t> peuvent utiliser les mêmes sous-réseaux, comment est-ce que le </a:t>
            </a:r>
            <a:r>
              <a:rPr lang="fr-CA" dirty="0" err="1"/>
              <a:t>routing</a:t>
            </a:r>
            <a:r>
              <a:rPr lang="fr-CA" dirty="0"/>
              <a:t> se fait-il?</a:t>
            </a:r>
          </a:p>
        </p:txBody>
      </p:sp>
    </p:spTree>
    <p:extLst>
      <p:ext uri="{BB962C8B-B14F-4D97-AF65-F5344CB8AC3E}">
        <p14:creationId xmlns:p14="http://schemas.microsoft.com/office/powerpoint/2010/main" val="28735217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2BB98C-AC79-213B-64A6-E3F004B997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2163FC8-6054-7BF5-BC56-DB313E5211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8000"/>
          </a:xfrm>
        </p:spPr>
        <p:txBody>
          <a:bodyPr anchor="ctr">
            <a:normAutofit/>
          </a:bodyPr>
          <a:lstStyle/>
          <a:p>
            <a:pPr algn="ctr"/>
            <a:r>
              <a:rPr lang="fr-CA" dirty="0"/>
              <a:t>Il ne se fait pas.</a:t>
            </a:r>
          </a:p>
        </p:txBody>
      </p:sp>
    </p:spTree>
    <p:extLst>
      <p:ext uri="{BB962C8B-B14F-4D97-AF65-F5344CB8AC3E}">
        <p14:creationId xmlns:p14="http://schemas.microsoft.com/office/powerpoint/2010/main" val="30706895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1D6A2A3-F101-46F7-8B6F-1C699CAFE9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11761DDB-6967-725E-D6E1-03F4C9DE1A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457200"/>
            <a:ext cx="4911393" cy="1556724"/>
          </a:xfrm>
        </p:spPr>
        <p:txBody>
          <a:bodyPr anchor="b">
            <a:normAutofit/>
          </a:bodyPr>
          <a:lstStyle/>
          <a:p>
            <a:r>
              <a:rPr lang="fr-CA" dirty="0"/>
              <a:t>WAN vs LAN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E61C0A6-F511-7E7E-8D5A-374AF37647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1" y="2345635"/>
            <a:ext cx="4911392" cy="3583940"/>
          </a:xfrm>
        </p:spPr>
        <p:txBody>
          <a:bodyPr anchor="t">
            <a:normAutofit/>
          </a:bodyPr>
          <a:lstStyle/>
          <a:p>
            <a:r>
              <a:rPr lang="fr-CA" sz="1600" dirty="0"/>
              <a:t>Les adresses à l’intérieur d’un LAN ne vont pas être directement visible à partir du WAN.</a:t>
            </a:r>
          </a:p>
          <a:p>
            <a:pPr lvl="1"/>
            <a:r>
              <a:rPr lang="fr-CA" sz="1600" dirty="0"/>
              <a:t>Réseau privé</a:t>
            </a:r>
          </a:p>
          <a:p>
            <a:r>
              <a:rPr lang="fr-CA" sz="1600" dirty="0"/>
              <a:t>Elles sont privées au LAN.</a:t>
            </a:r>
          </a:p>
          <a:p>
            <a:r>
              <a:rPr lang="fr-CA" sz="1600" dirty="0"/>
              <a:t>Si un ordinateur de MTL essaie de communiquer avec le 192.168.0.3, le message ne se rendra jamais à QC.</a:t>
            </a:r>
          </a:p>
          <a:p>
            <a:pPr marL="800100" lvl="1" indent="-342900">
              <a:buAutoNum type="arabicPeriod"/>
            </a:pPr>
            <a:r>
              <a:rPr lang="fr-CA" sz="1600" dirty="0"/>
              <a:t>Le 192.168.0.3 est dans le même réseau.</a:t>
            </a:r>
          </a:p>
          <a:p>
            <a:pPr marL="800100" lvl="1" indent="-342900">
              <a:buAutoNum type="arabicPeriod"/>
            </a:pPr>
            <a:r>
              <a:rPr lang="fr-CA" sz="1600" dirty="0"/>
              <a:t>Aucune route n’existe sur internet pour rejoindre ces plages d’adresse.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9CB12341-C2F6-3F62-52D3-15D58E91CE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880105" y="1484802"/>
            <a:ext cx="4619229" cy="3417171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529E760E-527D-4053-A309-F2BDE12501C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6400800"/>
            <a:ext cx="12191999" cy="457198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accent6">
                  <a:lumMod val="75000"/>
                  <a:alpha val="85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153D448-4ED1-429A-A28C-8316DE7CAF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8"/>
            <a:ext cx="8153396" cy="448831"/>
          </a:xfrm>
          <a:prstGeom prst="rect">
            <a:avLst/>
          </a:prstGeom>
          <a:gradFill>
            <a:gsLst>
              <a:gs pos="0">
                <a:schemeClr val="accent5">
                  <a:alpha val="5000"/>
                </a:schemeClr>
              </a:gs>
              <a:gs pos="99000">
                <a:schemeClr val="accent5">
                  <a:alpha val="72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47210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1E73808-1275-B9C9-847A-17EF6657ED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E9CC712-E341-0B8C-31B0-6D73B01759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92BA0248-31A3-1A8F-8C2F-BEDD889B93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600" y="457200"/>
            <a:ext cx="4911393" cy="1556724"/>
          </a:xfrm>
        </p:spPr>
        <p:txBody>
          <a:bodyPr anchor="b">
            <a:normAutofit/>
          </a:bodyPr>
          <a:lstStyle/>
          <a:p>
            <a:r>
              <a:rPr lang="fr-CA" dirty="0"/>
              <a:t>NAT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9135BFA-AE85-F173-C6C6-787E452B40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1" y="2345635"/>
            <a:ext cx="4911392" cy="3583940"/>
          </a:xfrm>
        </p:spPr>
        <p:txBody>
          <a:bodyPr anchor="t">
            <a:normAutofit/>
          </a:bodyPr>
          <a:lstStyle/>
          <a:p>
            <a:r>
              <a:rPr lang="fr-CA" sz="1600" dirty="0"/>
              <a:t>Network </a:t>
            </a:r>
            <a:r>
              <a:rPr lang="fr-CA" sz="1600" dirty="0" err="1"/>
              <a:t>address</a:t>
            </a:r>
            <a:r>
              <a:rPr lang="fr-CA" sz="1600" dirty="0"/>
              <a:t> translation.</a:t>
            </a:r>
          </a:p>
          <a:p>
            <a:r>
              <a:rPr lang="fr-CA" sz="1600" dirty="0"/>
              <a:t>Technique permettant à un message provenant d’un LAN de recevoir une réponse d’un service disponible sur un autre réseau.</a:t>
            </a:r>
          </a:p>
          <a:p>
            <a:r>
              <a:rPr lang="fr-CA" sz="1600" dirty="0"/>
              <a:t>Le paquet emprunte comme adresse d’origine l’adresse publique du routeur.</a:t>
            </a:r>
          </a:p>
          <a:p>
            <a:r>
              <a:rPr lang="fr-CA" sz="1600" dirty="0"/>
              <a:t>Sur réception de la réponse, le routeur le redirige verse la bonne adresse IP.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8CF5FB10-6A55-3E82-A2C2-400709F79B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644639" y="1516396"/>
            <a:ext cx="5090161" cy="3353982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9A8A2607-E3C9-3F39-AAAB-889FC131EB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6400800"/>
            <a:ext cx="12191999" cy="457198"/>
          </a:xfrm>
          <a:prstGeom prst="rect">
            <a:avLst/>
          </a:prstGeom>
          <a:gradFill>
            <a:gsLst>
              <a:gs pos="0">
                <a:schemeClr val="accent2"/>
              </a:gs>
              <a:gs pos="100000">
                <a:schemeClr val="accent6">
                  <a:lumMod val="75000"/>
                  <a:alpha val="85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5C73A40-BE84-FE85-A20D-8598913690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4038600" y="6400798"/>
            <a:ext cx="8153396" cy="448831"/>
          </a:xfrm>
          <a:prstGeom prst="rect">
            <a:avLst/>
          </a:prstGeom>
          <a:gradFill>
            <a:gsLst>
              <a:gs pos="0">
                <a:schemeClr val="accent5">
                  <a:alpha val="5000"/>
                </a:schemeClr>
              </a:gs>
              <a:gs pos="99000">
                <a:schemeClr val="accent5">
                  <a:alpha val="72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8837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8A3BA96-1AAD-C758-B558-D5EABBD78C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Exemple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DCCC860-9427-18C3-D949-DFCF1A3A93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 dirty="0"/>
              <a:t>Dans le LAN MTL, le 192.168.0.2 envoie une requête http au serveur.</a:t>
            </a:r>
          </a:p>
        </p:txBody>
      </p:sp>
      <p:pic>
        <p:nvPicPr>
          <p:cNvPr id="5" name="Graphique 4" descr="Télécharger du cloud contour">
            <a:extLst>
              <a:ext uri="{FF2B5EF4-FFF2-40B4-BE49-F238E27FC236}">
                <a16:creationId xmlns:a16="http://schemas.microsoft.com/office/drawing/2014/main" id="{DDAAD6B5-AE7D-40D4-4FCC-2DB1D734C4B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513961" y="4135562"/>
            <a:ext cx="914400" cy="914400"/>
          </a:xfrm>
          <a:prstGeom prst="rect">
            <a:avLst/>
          </a:prstGeom>
        </p:spPr>
      </p:pic>
      <p:pic>
        <p:nvPicPr>
          <p:cNvPr id="7" name="Graphique 6" descr="Routeur sans fil avec un remplissage uni">
            <a:extLst>
              <a:ext uri="{FF2B5EF4-FFF2-40B4-BE49-F238E27FC236}">
                <a16:creationId xmlns:a16="http://schemas.microsoft.com/office/drawing/2014/main" id="{50792377-43C7-B87F-86D9-1834340AAA4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97314" y="4135562"/>
            <a:ext cx="914400" cy="914400"/>
          </a:xfrm>
          <a:prstGeom prst="rect">
            <a:avLst/>
          </a:prstGeom>
        </p:spPr>
      </p:pic>
      <p:pic>
        <p:nvPicPr>
          <p:cNvPr id="9" name="Graphique 8" descr="Base de données avec un remplissage uni">
            <a:extLst>
              <a:ext uri="{FF2B5EF4-FFF2-40B4-BE49-F238E27FC236}">
                <a16:creationId xmlns:a16="http://schemas.microsoft.com/office/drawing/2014/main" id="{A6BB94F6-880E-0F12-E38C-52E27FAA81C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698480" y="4135562"/>
            <a:ext cx="914400" cy="914400"/>
          </a:xfrm>
          <a:prstGeom prst="rect">
            <a:avLst/>
          </a:prstGeom>
        </p:spPr>
      </p:pic>
      <p:pic>
        <p:nvPicPr>
          <p:cNvPr id="11" name="Graphique 10" descr="Ordinateur portable avec un remplissage uni">
            <a:extLst>
              <a:ext uri="{FF2B5EF4-FFF2-40B4-BE49-F238E27FC236}">
                <a16:creationId xmlns:a16="http://schemas.microsoft.com/office/drawing/2014/main" id="{3D356DE4-0FD3-DF61-654A-5392B188E82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80667" y="4135562"/>
            <a:ext cx="914400" cy="914400"/>
          </a:xfrm>
          <a:prstGeom prst="rect">
            <a:avLst/>
          </a:prstGeom>
        </p:spPr>
      </p:pic>
      <p:pic>
        <p:nvPicPr>
          <p:cNvPr id="13" name="Image 12">
            <a:extLst>
              <a:ext uri="{FF2B5EF4-FFF2-40B4-BE49-F238E27FC236}">
                <a16:creationId xmlns:a16="http://schemas.microsoft.com/office/drawing/2014/main" id="{8C613E87-F197-C503-E71C-DE1C163BE00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52074" y="3010148"/>
            <a:ext cx="1786184" cy="1114489"/>
          </a:xfrm>
          <a:prstGeom prst="rect">
            <a:avLst/>
          </a:prstGeom>
        </p:spPr>
      </p:pic>
      <p:sp>
        <p:nvSpPr>
          <p:cNvPr id="14" name="Flèche : droite 13">
            <a:extLst>
              <a:ext uri="{FF2B5EF4-FFF2-40B4-BE49-F238E27FC236}">
                <a16:creationId xmlns:a16="http://schemas.microsoft.com/office/drawing/2014/main" id="{301BAB6D-7A03-D045-E168-CF1DB9F820E3}"/>
              </a:ext>
            </a:extLst>
          </p:cNvPr>
          <p:cNvSpPr/>
          <p:nvPr/>
        </p:nvSpPr>
        <p:spPr>
          <a:xfrm>
            <a:off x="2169163" y="4434326"/>
            <a:ext cx="1786184" cy="316872"/>
          </a:xfrm>
          <a:prstGeom prst="rightArrow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1484649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9F2AFB-72DA-8366-56F2-EAF7788067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D256F86-B29B-E4DD-CD70-7EA120FCA3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Exemple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6DD8E6E-364B-C24C-2CF8-712979967E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 dirty="0"/>
              <a:t>Dans le LAN MTL, le 192.168.0.2 envoie une requête http au serveur.</a:t>
            </a:r>
          </a:p>
        </p:txBody>
      </p:sp>
      <p:pic>
        <p:nvPicPr>
          <p:cNvPr id="5" name="Graphique 4" descr="Télécharger du cloud contour">
            <a:extLst>
              <a:ext uri="{FF2B5EF4-FFF2-40B4-BE49-F238E27FC236}">
                <a16:creationId xmlns:a16="http://schemas.microsoft.com/office/drawing/2014/main" id="{B4A924E0-A003-C25D-F6F4-583F6CEA0BF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513961" y="4135562"/>
            <a:ext cx="914400" cy="914400"/>
          </a:xfrm>
          <a:prstGeom prst="rect">
            <a:avLst/>
          </a:prstGeom>
        </p:spPr>
      </p:pic>
      <p:pic>
        <p:nvPicPr>
          <p:cNvPr id="7" name="Graphique 6" descr="Routeur sans fil avec un remplissage uni">
            <a:extLst>
              <a:ext uri="{FF2B5EF4-FFF2-40B4-BE49-F238E27FC236}">
                <a16:creationId xmlns:a16="http://schemas.microsoft.com/office/drawing/2014/main" id="{01213DAB-C143-0669-DEF2-D8131F80488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97314" y="4135562"/>
            <a:ext cx="914400" cy="914400"/>
          </a:xfrm>
          <a:prstGeom prst="rect">
            <a:avLst/>
          </a:prstGeom>
        </p:spPr>
      </p:pic>
      <p:pic>
        <p:nvPicPr>
          <p:cNvPr id="9" name="Graphique 8" descr="Base de données avec un remplissage uni">
            <a:extLst>
              <a:ext uri="{FF2B5EF4-FFF2-40B4-BE49-F238E27FC236}">
                <a16:creationId xmlns:a16="http://schemas.microsoft.com/office/drawing/2014/main" id="{ECA3F5C8-C27E-C47E-40BD-A749598153B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698480" y="4135562"/>
            <a:ext cx="914400" cy="914400"/>
          </a:xfrm>
          <a:prstGeom prst="rect">
            <a:avLst/>
          </a:prstGeom>
        </p:spPr>
      </p:pic>
      <p:pic>
        <p:nvPicPr>
          <p:cNvPr id="11" name="Graphique 10" descr="Ordinateur portable avec un remplissage uni">
            <a:extLst>
              <a:ext uri="{FF2B5EF4-FFF2-40B4-BE49-F238E27FC236}">
                <a16:creationId xmlns:a16="http://schemas.microsoft.com/office/drawing/2014/main" id="{D7B38230-948E-9D8C-9FFF-E767A9B55A9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80667" y="4135562"/>
            <a:ext cx="914400" cy="914400"/>
          </a:xfrm>
          <a:prstGeom prst="rect">
            <a:avLst/>
          </a:prstGeom>
        </p:spPr>
      </p:pic>
      <p:sp>
        <p:nvSpPr>
          <p:cNvPr id="14" name="Flèche : droite 13">
            <a:extLst>
              <a:ext uri="{FF2B5EF4-FFF2-40B4-BE49-F238E27FC236}">
                <a16:creationId xmlns:a16="http://schemas.microsoft.com/office/drawing/2014/main" id="{CED9FB5B-3D4F-0030-BF0F-1DCD2486C420}"/>
              </a:ext>
            </a:extLst>
          </p:cNvPr>
          <p:cNvSpPr/>
          <p:nvPr/>
        </p:nvSpPr>
        <p:spPr>
          <a:xfrm>
            <a:off x="2169163" y="4434326"/>
            <a:ext cx="1786184" cy="316872"/>
          </a:xfrm>
          <a:prstGeom prst="rightArrow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9D8C62BE-A77F-C0BF-840C-C7F1B74CF3E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19745" y="3021073"/>
            <a:ext cx="1786185" cy="1114489"/>
          </a:xfrm>
          <a:prstGeom prst="rect">
            <a:avLst/>
          </a:prstGeom>
        </p:spPr>
      </p:pic>
      <p:sp>
        <p:nvSpPr>
          <p:cNvPr id="6" name="Flèche : droite 5">
            <a:extLst>
              <a:ext uri="{FF2B5EF4-FFF2-40B4-BE49-F238E27FC236}">
                <a16:creationId xmlns:a16="http://schemas.microsoft.com/office/drawing/2014/main" id="{0D23FDD4-5AFB-0265-CB30-024A6D3822FF}"/>
              </a:ext>
            </a:extLst>
          </p:cNvPr>
          <p:cNvSpPr/>
          <p:nvPr/>
        </p:nvSpPr>
        <p:spPr>
          <a:xfrm>
            <a:off x="5419745" y="4434326"/>
            <a:ext cx="1786184" cy="316872"/>
          </a:xfrm>
          <a:prstGeom prst="rightArrow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6413055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35058D-C819-9D81-F690-72E073E58D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BAF73EB-7265-4B81-E5C6-EC112841FD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Exemple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4F0DF24-36A4-F08A-7D28-F801E6BAE3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 dirty="0"/>
              <a:t>Dans le LAN MTL, le 192.168.0.2 envoie une requête http au serveur.</a:t>
            </a:r>
          </a:p>
        </p:txBody>
      </p:sp>
      <p:pic>
        <p:nvPicPr>
          <p:cNvPr id="5" name="Graphique 4" descr="Télécharger du cloud contour">
            <a:extLst>
              <a:ext uri="{FF2B5EF4-FFF2-40B4-BE49-F238E27FC236}">
                <a16:creationId xmlns:a16="http://schemas.microsoft.com/office/drawing/2014/main" id="{79938B95-9F0E-7EFA-14BB-DD51659841A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513961" y="4135562"/>
            <a:ext cx="914400" cy="914400"/>
          </a:xfrm>
          <a:prstGeom prst="rect">
            <a:avLst/>
          </a:prstGeom>
        </p:spPr>
      </p:pic>
      <p:pic>
        <p:nvPicPr>
          <p:cNvPr id="7" name="Graphique 6" descr="Routeur sans fil avec un remplissage uni">
            <a:extLst>
              <a:ext uri="{FF2B5EF4-FFF2-40B4-BE49-F238E27FC236}">
                <a16:creationId xmlns:a16="http://schemas.microsoft.com/office/drawing/2014/main" id="{41A1CA02-E19C-5FFD-C219-E3BCDB28997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97314" y="4135562"/>
            <a:ext cx="914400" cy="914400"/>
          </a:xfrm>
          <a:prstGeom prst="rect">
            <a:avLst/>
          </a:prstGeom>
        </p:spPr>
      </p:pic>
      <p:pic>
        <p:nvPicPr>
          <p:cNvPr id="9" name="Graphique 8" descr="Base de données avec un remplissage uni">
            <a:extLst>
              <a:ext uri="{FF2B5EF4-FFF2-40B4-BE49-F238E27FC236}">
                <a16:creationId xmlns:a16="http://schemas.microsoft.com/office/drawing/2014/main" id="{D5F9B151-14CB-F41B-E3CB-41FEB21BACA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698480" y="4135562"/>
            <a:ext cx="914400" cy="914400"/>
          </a:xfrm>
          <a:prstGeom prst="rect">
            <a:avLst/>
          </a:prstGeom>
        </p:spPr>
      </p:pic>
      <p:pic>
        <p:nvPicPr>
          <p:cNvPr id="11" name="Graphique 10" descr="Ordinateur portable avec un remplissage uni">
            <a:extLst>
              <a:ext uri="{FF2B5EF4-FFF2-40B4-BE49-F238E27FC236}">
                <a16:creationId xmlns:a16="http://schemas.microsoft.com/office/drawing/2014/main" id="{0CC074F0-46EB-A439-D4E5-D59B61A12AD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80667" y="4135562"/>
            <a:ext cx="914400" cy="914400"/>
          </a:xfrm>
          <a:prstGeom prst="rect">
            <a:avLst/>
          </a:prstGeom>
        </p:spPr>
      </p:pic>
      <p:sp>
        <p:nvSpPr>
          <p:cNvPr id="14" name="Flèche : droite 13">
            <a:extLst>
              <a:ext uri="{FF2B5EF4-FFF2-40B4-BE49-F238E27FC236}">
                <a16:creationId xmlns:a16="http://schemas.microsoft.com/office/drawing/2014/main" id="{EB58363C-04B6-FDD5-F4D8-E90634FB4998}"/>
              </a:ext>
            </a:extLst>
          </p:cNvPr>
          <p:cNvSpPr/>
          <p:nvPr/>
        </p:nvSpPr>
        <p:spPr>
          <a:xfrm>
            <a:off x="2169163" y="4434326"/>
            <a:ext cx="1786184" cy="316872"/>
          </a:xfrm>
          <a:prstGeom prst="rightArrow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A18949FB-7F95-7C10-C53F-446D78FC01D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70328" y="3021073"/>
            <a:ext cx="1786185" cy="1114489"/>
          </a:xfrm>
          <a:prstGeom prst="rect">
            <a:avLst/>
          </a:prstGeom>
        </p:spPr>
      </p:pic>
      <p:sp>
        <p:nvSpPr>
          <p:cNvPr id="6" name="Flèche : droite 5">
            <a:extLst>
              <a:ext uri="{FF2B5EF4-FFF2-40B4-BE49-F238E27FC236}">
                <a16:creationId xmlns:a16="http://schemas.microsoft.com/office/drawing/2014/main" id="{410945EC-12C4-C1C2-84B1-DB5DA154BCD8}"/>
              </a:ext>
            </a:extLst>
          </p:cNvPr>
          <p:cNvSpPr/>
          <p:nvPr/>
        </p:nvSpPr>
        <p:spPr>
          <a:xfrm>
            <a:off x="5419745" y="4434326"/>
            <a:ext cx="1786184" cy="316872"/>
          </a:xfrm>
          <a:prstGeom prst="rightArrow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8" name="Flèche : droite 7">
            <a:extLst>
              <a:ext uri="{FF2B5EF4-FFF2-40B4-BE49-F238E27FC236}">
                <a16:creationId xmlns:a16="http://schemas.microsoft.com/office/drawing/2014/main" id="{D16F8A8F-8416-75C0-CFBE-CD211966FEC8}"/>
              </a:ext>
            </a:extLst>
          </p:cNvPr>
          <p:cNvSpPr/>
          <p:nvPr/>
        </p:nvSpPr>
        <p:spPr>
          <a:xfrm>
            <a:off x="8666830" y="4434326"/>
            <a:ext cx="1786184" cy="316872"/>
          </a:xfrm>
          <a:prstGeom prst="rightArrow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12936406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5697FD-157A-9952-B241-01EFC1B5A9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5BBD98A-0FB8-5E1E-E026-7F4A15E8DD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Exemple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1269101-0F66-2AF2-671F-71E77ACBAD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 dirty="0"/>
              <a:t>Dans le LAN MTL, le 192.168.0.2 envoie une requête http au serveur.</a:t>
            </a:r>
          </a:p>
        </p:txBody>
      </p:sp>
      <p:pic>
        <p:nvPicPr>
          <p:cNvPr id="5" name="Graphique 4" descr="Télécharger du cloud contour">
            <a:extLst>
              <a:ext uri="{FF2B5EF4-FFF2-40B4-BE49-F238E27FC236}">
                <a16:creationId xmlns:a16="http://schemas.microsoft.com/office/drawing/2014/main" id="{AAE0548A-48C7-B6FF-EF92-B540FAFBC65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513961" y="4135562"/>
            <a:ext cx="914400" cy="914400"/>
          </a:xfrm>
          <a:prstGeom prst="rect">
            <a:avLst/>
          </a:prstGeom>
        </p:spPr>
      </p:pic>
      <p:pic>
        <p:nvPicPr>
          <p:cNvPr id="7" name="Graphique 6" descr="Routeur sans fil avec un remplissage uni">
            <a:extLst>
              <a:ext uri="{FF2B5EF4-FFF2-40B4-BE49-F238E27FC236}">
                <a16:creationId xmlns:a16="http://schemas.microsoft.com/office/drawing/2014/main" id="{278ACA4E-AD9C-A255-8769-BC08FA95496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97314" y="4135562"/>
            <a:ext cx="914400" cy="914400"/>
          </a:xfrm>
          <a:prstGeom prst="rect">
            <a:avLst/>
          </a:prstGeom>
        </p:spPr>
      </p:pic>
      <p:pic>
        <p:nvPicPr>
          <p:cNvPr id="9" name="Graphique 8" descr="Base de données avec un remplissage uni">
            <a:extLst>
              <a:ext uri="{FF2B5EF4-FFF2-40B4-BE49-F238E27FC236}">
                <a16:creationId xmlns:a16="http://schemas.microsoft.com/office/drawing/2014/main" id="{47BFA37C-D628-B392-E0A1-288AF154D7C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698480" y="4135562"/>
            <a:ext cx="914400" cy="914400"/>
          </a:xfrm>
          <a:prstGeom prst="rect">
            <a:avLst/>
          </a:prstGeom>
        </p:spPr>
      </p:pic>
      <p:pic>
        <p:nvPicPr>
          <p:cNvPr id="11" name="Graphique 10" descr="Ordinateur portable avec un remplissage uni">
            <a:extLst>
              <a:ext uri="{FF2B5EF4-FFF2-40B4-BE49-F238E27FC236}">
                <a16:creationId xmlns:a16="http://schemas.microsoft.com/office/drawing/2014/main" id="{ED889324-60AD-1115-0C3A-59AE27403DD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80667" y="4135562"/>
            <a:ext cx="914400" cy="914400"/>
          </a:xfrm>
          <a:prstGeom prst="rect">
            <a:avLst/>
          </a:prstGeom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F66078F2-AA59-2539-7A03-BCB70FB7102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262587" y="2871755"/>
            <a:ext cx="1786185" cy="1114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98868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D4AB33-1FC1-383C-E2D4-05A4E8E8AE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5A366DF-313B-AE39-D220-540DE3155C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Exemple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C65EC6E-927D-5EEE-6B34-EDA10D5232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 dirty="0"/>
              <a:t>Dans le LAN MTL, le 192.168.0.2 envoie une requête http au serveur.</a:t>
            </a:r>
          </a:p>
        </p:txBody>
      </p:sp>
      <p:pic>
        <p:nvPicPr>
          <p:cNvPr id="5" name="Graphique 4" descr="Télécharger du cloud contour">
            <a:extLst>
              <a:ext uri="{FF2B5EF4-FFF2-40B4-BE49-F238E27FC236}">
                <a16:creationId xmlns:a16="http://schemas.microsoft.com/office/drawing/2014/main" id="{74C6AE06-9BB5-CFAF-40F4-B02FF7F369C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513961" y="4135562"/>
            <a:ext cx="914400" cy="914400"/>
          </a:xfrm>
          <a:prstGeom prst="rect">
            <a:avLst/>
          </a:prstGeom>
        </p:spPr>
      </p:pic>
      <p:pic>
        <p:nvPicPr>
          <p:cNvPr id="7" name="Graphique 6" descr="Routeur sans fil avec un remplissage uni">
            <a:extLst>
              <a:ext uri="{FF2B5EF4-FFF2-40B4-BE49-F238E27FC236}">
                <a16:creationId xmlns:a16="http://schemas.microsoft.com/office/drawing/2014/main" id="{84761BDF-192E-92C3-F338-9363F01944F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97314" y="4135562"/>
            <a:ext cx="914400" cy="914400"/>
          </a:xfrm>
          <a:prstGeom prst="rect">
            <a:avLst/>
          </a:prstGeom>
        </p:spPr>
      </p:pic>
      <p:pic>
        <p:nvPicPr>
          <p:cNvPr id="9" name="Graphique 8" descr="Base de données avec un remplissage uni">
            <a:extLst>
              <a:ext uri="{FF2B5EF4-FFF2-40B4-BE49-F238E27FC236}">
                <a16:creationId xmlns:a16="http://schemas.microsoft.com/office/drawing/2014/main" id="{36804DD3-3901-3CB4-3F91-9BDCE58CF0B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698480" y="4135562"/>
            <a:ext cx="914400" cy="914400"/>
          </a:xfrm>
          <a:prstGeom prst="rect">
            <a:avLst/>
          </a:prstGeom>
        </p:spPr>
      </p:pic>
      <p:pic>
        <p:nvPicPr>
          <p:cNvPr id="11" name="Graphique 10" descr="Ordinateur portable avec un remplissage uni">
            <a:extLst>
              <a:ext uri="{FF2B5EF4-FFF2-40B4-BE49-F238E27FC236}">
                <a16:creationId xmlns:a16="http://schemas.microsoft.com/office/drawing/2014/main" id="{74659F92-83ED-95B6-8ECD-168A271D88F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80667" y="4135562"/>
            <a:ext cx="914400" cy="914400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FDD1CC43-3D22-764E-0A2E-08F4E04EA91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70327" y="3021072"/>
            <a:ext cx="1786186" cy="1114490"/>
          </a:xfrm>
          <a:prstGeom prst="rect">
            <a:avLst/>
          </a:prstGeom>
        </p:spPr>
      </p:pic>
      <p:sp>
        <p:nvSpPr>
          <p:cNvPr id="12" name="Flèche : droite 11">
            <a:extLst>
              <a:ext uri="{FF2B5EF4-FFF2-40B4-BE49-F238E27FC236}">
                <a16:creationId xmlns:a16="http://schemas.microsoft.com/office/drawing/2014/main" id="{AEE3F0A9-4E4C-C11A-997E-CEB5E19216FF}"/>
              </a:ext>
            </a:extLst>
          </p:cNvPr>
          <p:cNvSpPr/>
          <p:nvPr/>
        </p:nvSpPr>
        <p:spPr>
          <a:xfrm flipH="1">
            <a:off x="8666830" y="4434326"/>
            <a:ext cx="1786184" cy="316872"/>
          </a:xfrm>
          <a:prstGeom prst="rightArrow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34082922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A612AE-B3B2-EBC6-841C-0F479C54A9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F31765F-D41F-5A68-C59A-0164CC2442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Exemple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22AA671-B694-2FDA-4510-92A009C6E7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 dirty="0"/>
              <a:t>Dans le LAN MTL, le 192.168.0.2 envoie une requête http au serveur.</a:t>
            </a:r>
          </a:p>
        </p:txBody>
      </p:sp>
      <p:pic>
        <p:nvPicPr>
          <p:cNvPr id="5" name="Graphique 4" descr="Télécharger du cloud contour">
            <a:extLst>
              <a:ext uri="{FF2B5EF4-FFF2-40B4-BE49-F238E27FC236}">
                <a16:creationId xmlns:a16="http://schemas.microsoft.com/office/drawing/2014/main" id="{EBF899FE-61F9-1A01-39BE-3B4268BC374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513961" y="4135562"/>
            <a:ext cx="914400" cy="914400"/>
          </a:xfrm>
          <a:prstGeom prst="rect">
            <a:avLst/>
          </a:prstGeom>
        </p:spPr>
      </p:pic>
      <p:pic>
        <p:nvPicPr>
          <p:cNvPr id="7" name="Graphique 6" descr="Routeur sans fil avec un remplissage uni">
            <a:extLst>
              <a:ext uri="{FF2B5EF4-FFF2-40B4-BE49-F238E27FC236}">
                <a16:creationId xmlns:a16="http://schemas.microsoft.com/office/drawing/2014/main" id="{7463362F-7537-C227-3E22-E858718C30C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97314" y="4135562"/>
            <a:ext cx="914400" cy="914400"/>
          </a:xfrm>
          <a:prstGeom prst="rect">
            <a:avLst/>
          </a:prstGeom>
        </p:spPr>
      </p:pic>
      <p:pic>
        <p:nvPicPr>
          <p:cNvPr id="9" name="Graphique 8" descr="Base de données avec un remplissage uni">
            <a:extLst>
              <a:ext uri="{FF2B5EF4-FFF2-40B4-BE49-F238E27FC236}">
                <a16:creationId xmlns:a16="http://schemas.microsoft.com/office/drawing/2014/main" id="{102EE83B-1582-9946-38B5-7DD4288D9DC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698480" y="4135562"/>
            <a:ext cx="914400" cy="914400"/>
          </a:xfrm>
          <a:prstGeom prst="rect">
            <a:avLst/>
          </a:prstGeom>
        </p:spPr>
      </p:pic>
      <p:pic>
        <p:nvPicPr>
          <p:cNvPr id="11" name="Graphique 10" descr="Ordinateur portable avec un remplissage uni">
            <a:extLst>
              <a:ext uri="{FF2B5EF4-FFF2-40B4-BE49-F238E27FC236}">
                <a16:creationId xmlns:a16="http://schemas.microsoft.com/office/drawing/2014/main" id="{24444525-2E54-DF5A-3E00-A6951BF24E9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80667" y="4135562"/>
            <a:ext cx="914400" cy="914400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D6F3EBE5-F7E9-2E64-6034-272D8CE561F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53680" y="3021072"/>
            <a:ext cx="1786186" cy="1114490"/>
          </a:xfrm>
          <a:prstGeom prst="rect">
            <a:avLst/>
          </a:prstGeom>
        </p:spPr>
      </p:pic>
      <p:sp>
        <p:nvSpPr>
          <p:cNvPr id="12" name="Flèche : droite 11">
            <a:extLst>
              <a:ext uri="{FF2B5EF4-FFF2-40B4-BE49-F238E27FC236}">
                <a16:creationId xmlns:a16="http://schemas.microsoft.com/office/drawing/2014/main" id="{D20AD3CA-5B7C-D412-C1DD-813BC9CC8B9B}"/>
              </a:ext>
            </a:extLst>
          </p:cNvPr>
          <p:cNvSpPr/>
          <p:nvPr/>
        </p:nvSpPr>
        <p:spPr>
          <a:xfrm flipH="1">
            <a:off x="8666830" y="4434326"/>
            <a:ext cx="1786184" cy="316872"/>
          </a:xfrm>
          <a:prstGeom prst="rightArrow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4" name="Flèche : droite 3">
            <a:extLst>
              <a:ext uri="{FF2B5EF4-FFF2-40B4-BE49-F238E27FC236}">
                <a16:creationId xmlns:a16="http://schemas.microsoft.com/office/drawing/2014/main" id="{E7F1DB69-3C80-7687-1925-77A325DFA407}"/>
              </a:ext>
            </a:extLst>
          </p:cNvPr>
          <p:cNvSpPr/>
          <p:nvPr/>
        </p:nvSpPr>
        <p:spPr>
          <a:xfrm flipH="1">
            <a:off x="5419745" y="4469483"/>
            <a:ext cx="1786184" cy="316872"/>
          </a:xfrm>
          <a:prstGeom prst="rightArrow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9653543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631A14-47F0-4E33-15ED-A9EDB9C87E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57B4684-8461-EA26-3BE7-97EF354DD1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CA" dirty="0"/>
              <a:t>Exemple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BE59DB73-39A6-7B04-78A8-C3F4B57346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CA" dirty="0"/>
              <a:t>Dans le LAN MTL, le 192.168.0.2 envoie une requête http au serveur.</a:t>
            </a:r>
          </a:p>
        </p:txBody>
      </p:sp>
      <p:pic>
        <p:nvPicPr>
          <p:cNvPr id="5" name="Graphique 4" descr="Télécharger du cloud contour">
            <a:extLst>
              <a:ext uri="{FF2B5EF4-FFF2-40B4-BE49-F238E27FC236}">
                <a16:creationId xmlns:a16="http://schemas.microsoft.com/office/drawing/2014/main" id="{534CF3F3-22A5-8196-60EE-42B69382487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513961" y="4135562"/>
            <a:ext cx="914400" cy="914400"/>
          </a:xfrm>
          <a:prstGeom prst="rect">
            <a:avLst/>
          </a:prstGeom>
        </p:spPr>
      </p:pic>
      <p:pic>
        <p:nvPicPr>
          <p:cNvPr id="7" name="Graphique 6" descr="Routeur sans fil avec un remplissage uni">
            <a:extLst>
              <a:ext uri="{FF2B5EF4-FFF2-40B4-BE49-F238E27FC236}">
                <a16:creationId xmlns:a16="http://schemas.microsoft.com/office/drawing/2014/main" id="{EF3AF0FA-EA75-A8AF-B4EE-F45D7B9B469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97314" y="4135562"/>
            <a:ext cx="914400" cy="914400"/>
          </a:xfrm>
          <a:prstGeom prst="rect">
            <a:avLst/>
          </a:prstGeom>
        </p:spPr>
      </p:pic>
      <p:pic>
        <p:nvPicPr>
          <p:cNvPr id="9" name="Graphique 8" descr="Base de données avec un remplissage uni">
            <a:extLst>
              <a:ext uri="{FF2B5EF4-FFF2-40B4-BE49-F238E27FC236}">
                <a16:creationId xmlns:a16="http://schemas.microsoft.com/office/drawing/2014/main" id="{6B772A2F-3AD8-41AF-D7ED-11A122DCD69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698480" y="4135562"/>
            <a:ext cx="914400" cy="914400"/>
          </a:xfrm>
          <a:prstGeom prst="rect">
            <a:avLst/>
          </a:prstGeom>
        </p:spPr>
      </p:pic>
      <p:pic>
        <p:nvPicPr>
          <p:cNvPr id="11" name="Graphique 10" descr="Ordinateur portable avec un remplissage uni">
            <a:extLst>
              <a:ext uri="{FF2B5EF4-FFF2-40B4-BE49-F238E27FC236}">
                <a16:creationId xmlns:a16="http://schemas.microsoft.com/office/drawing/2014/main" id="{C9D70F19-CFE0-C1BF-B370-B9A1F2E8F08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80667" y="4135562"/>
            <a:ext cx="914400" cy="914400"/>
          </a:xfrm>
          <a:prstGeom prst="rect">
            <a:avLst/>
          </a:prstGeom>
        </p:spPr>
      </p:pic>
      <p:sp>
        <p:nvSpPr>
          <p:cNvPr id="12" name="Flèche : droite 11">
            <a:extLst>
              <a:ext uri="{FF2B5EF4-FFF2-40B4-BE49-F238E27FC236}">
                <a16:creationId xmlns:a16="http://schemas.microsoft.com/office/drawing/2014/main" id="{731E5DA0-29D0-3050-F0D5-E0AA188066FC}"/>
              </a:ext>
            </a:extLst>
          </p:cNvPr>
          <p:cNvSpPr/>
          <p:nvPr/>
        </p:nvSpPr>
        <p:spPr>
          <a:xfrm flipH="1">
            <a:off x="8666830" y="4434326"/>
            <a:ext cx="1786184" cy="316872"/>
          </a:xfrm>
          <a:prstGeom prst="rightArrow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sp>
        <p:nvSpPr>
          <p:cNvPr id="4" name="Flèche : droite 3">
            <a:extLst>
              <a:ext uri="{FF2B5EF4-FFF2-40B4-BE49-F238E27FC236}">
                <a16:creationId xmlns:a16="http://schemas.microsoft.com/office/drawing/2014/main" id="{4A289871-383C-A77F-243B-D8515853C0DE}"/>
              </a:ext>
            </a:extLst>
          </p:cNvPr>
          <p:cNvSpPr/>
          <p:nvPr/>
        </p:nvSpPr>
        <p:spPr>
          <a:xfrm flipH="1">
            <a:off x="5419745" y="4469483"/>
            <a:ext cx="1786184" cy="316872"/>
          </a:xfrm>
          <a:prstGeom prst="rightArrow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  <p:pic>
        <p:nvPicPr>
          <p:cNvPr id="17" name="Image 16">
            <a:extLst>
              <a:ext uri="{FF2B5EF4-FFF2-40B4-BE49-F238E27FC236}">
                <a16:creationId xmlns:a16="http://schemas.microsoft.com/office/drawing/2014/main" id="{7E7FECC8-35C3-DD4A-72B8-097D8BAD453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03097" y="3021072"/>
            <a:ext cx="1786186" cy="1112154"/>
          </a:xfrm>
          <a:prstGeom prst="rect">
            <a:avLst/>
          </a:prstGeom>
        </p:spPr>
      </p:pic>
      <p:sp>
        <p:nvSpPr>
          <p:cNvPr id="18" name="Flèche : droite 17">
            <a:extLst>
              <a:ext uri="{FF2B5EF4-FFF2-40B4-BE49-F238E27FC236}">
                <a16:creationId xmlns:a16="http://schemas.microsoft.com/office/drawing/2014/main" id="{0A12F889-6726-086B-120C-4FAF264EE769}"/>
              </a:ext>
            </a:extLst>
          </p:cNvPr>
          <p:cNvSpPr/>
          <p:nvPr/>
        </p:nvSpPr>
        <p:spPr>
          <a:xfrm flipH="1">
            <a:off x="2103098" y="4469483"/>
            <a:ext cx="1786184" cy="316872"/>
          </a:xfrm>
          <a:prstGeom prst="rightArrow">
            <a:avLst/>
          </a:prstGeom>
          <a:solidFill>
            <a:schemeClr val="tx1">
              <a:lumMod val="95000"/>
              <a:lumOff val="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A"/>
          </a:p>
        </p:txBody>
      </p:sp>
    </p:spTree>
    <p:extLst>
      <p:ext uri="{BB962C8B-B14F-4D97-AF65-F5344CB8AC3E}">
        <p14:creationId xmlns:p14="http://schemas.microsoft.com/office/powerpoint/2010/main" val="2284701198"/>
      </p:ext>
    </p:extLst>
  </p:cSld>
  <p:clrMapOvr>
    <a:masterClrMapping/>
  </p:clrMapOvr>
</p:sld>
</file>

<file path=ppt/theme/theme1.xml><?xml version="1.0" encoding="utf-8"?>
<a:theme xmlns:a="http://schemas.openxmlformats.org/drawingml/2006/main" name="GradientRiseVTI">
  <a:themeElements>
    <a:clrScheme name="GradientRise">
      <a:dk1>
        <a:sysClr val="windowText" lastClr="000000"/>
      </a:dk1>
      <a:lt1>
        <a:srgbClr val="FFFFFF"/>
      </a:lt1>
      <a:dk2>
        <a:srgbClr val="3C0F3A"/>
      </a:dk2>
      <a:lt2>
        <a:srgbClr val="F1F2F2"/>
      </a:lt2>
      <a:accent1>
        <a:srgbClr val="A6025C"/>
      </a:accent1>
      <a:accent2>
        <a:srgbClr val="92248E"/>
      </a:accent2>
      <a:accent3>
        <a:srgbClr val="DE95C4"/>
      </a:accent3>
      <a:accent4>
        <a:srgbClr val="FE4A00"/>
      </a:accent4>
      <a:accent5>
        <a:srgbClr val="DA002F"/>
      </a:accent5>
      <a:accent6>
        <a:srgbClr val="FF907A"/>
      </a:accent6>
      <a:hlink>
        <a:srgbClr val="CA71E4"/>
      </a:hlink>
      <a:folHlink>
        <a:srgbClr val="E45E49"/>
      </a:folHlink>
    </a:clrScheme>
    <a:fontScheme name="Avenir">
      <a:majorFont>
        <a:latin typeface="Gill Sans Nova"/>
        <a:ea typeface=""/>
        <a:cs typeface=""/>
      </a:majorFont>
      <a:minorFont>
        <a:latin typeface="Gill Sans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radientRiseVTI" id="{C2FC082F-B444-4222-AF20-78444CCB5722}" vid="{39F213E4-0CBC-40CB-B3F6-8C5562B6B99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Metadata/LabelInfo.xml><?xml version="1.0" encoding="utf-8"?>
<clbl:labelList xmlns:clbl="http://schemas.microsoft.com/office/2020/mipLabelMetadata">
  <clbl:label id="{c0eecc4d-675b-4b90-81a0-a5cd46c51b04}" enabled="0" method="" siteId="{c0eecc4d-675b-4b90-81a0-a5cd46c51b04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1011</TotalTime>
  <Words>271</Words>
  <Application>Microsoft Office PowerPoint</Application>
  <PresentationFormat>Widescreen</PresentationFormat>
  <Paragraphs>35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Gill Sans Nova</vt:lpstr>
      <vt:lpstr>GradientRiseVTI</vt:lpstr>
      <vt:lpstr>INF-216 Réseaux et connectivité</vt:lpstr>
      <vt:lpstr>Quelles adresses est-ce que je peux utiliser dans mon LAN?</vt:lpstr>
      <vt:lpstr>Réseaux réservés aux LAN</vt:lpstr>
      <vt:lpstr>Si plusieurs lan peuvent utiliser les mêmes sous-réseaux, comment est-ce que le routing se fait-il?</vt:lpstr>
      <vt:lpstr>Il ne se fait pas.</vt:lpstr>
      <vt:lpstr>WAN vs LAN</vt:lpstr>
      <vt:lpstr>NAT</vt:lpstr>
      <vt:lpstr>Exemple</vt:lpstr>
      <vt:lpstr>Exemple</vt:lpstr>
      <vt:lpstr>Exemple</vt:lpstr>
      <vt:lpstr>Exemple</vt:lpstr>
      <vt:lpstr>Exemple</vt:lpstr>
      <vt:lpstr>Exemple</vt:lpstr>
      <vt:lpstr>Exemple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INF-216 Réseaux et connectivité</dc:title>
  <dc:creator>Guillaume Courtemanche</dc:creator>
  <cp:lastModifiedBy>Guillaume Courtemanche</cp:lastModifiedBy>
  <cp:revision>1</cp:revision>
  <dcterms:created xsi:type="dcterms:W3CDTF">2021-01-21T13:25:31Z</dcterms:created>
  <dcterms:modified xsi:type="dcterms:W3CDTF">2026-03-30T18:46:17Z</dcterms:modified>
</cp:coreProperties>
</file>
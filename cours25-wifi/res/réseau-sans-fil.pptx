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4"/>
  </p:notesMasterIdLst>
  <p:sldIdLst>
    <p:sldId id="256" r:id="rId2"/>
    <p:sldId id="258" r:id="rId3"/>
    <p:sldId id="260" r:id="rId4"/>
    <p:sldId id="261" r:id="rId5"/>
    <p:sldId id="262" r:id="rId6"/>
    <p:sldId id="257" r:id="rId7"/>
    <p:sldId id="259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1" r:id="rId20"/>
    <p:sldId id="276" r:id="rId21"/>
    <p:sldId id="282" r:id="rId22"/>
    <p:sldId id="277" r:id="rId23"/>
    <p:sldId id="278" r:id="rId24"/>
    <p:sldId id="280" r:id="rId25"/>
    <p:sldId id="279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10F5864-12AA-4CF7-842C-86CC4D976ECD}">
          <p14:sldIdLst>
            <p14:sldId id="256"/>
            <p14:sldId id="258"/>
          </p14:sldIdLst>
        </p14:section>
        <p14:section name="survol et types de réseaux" id="{45CA41E7-CFB5-4E6B-8CA4-93308F940E48}">
          <p14:sldIdLst>
            <p14:sldId id="260"/>
            <p14:sldId id="261"/>
            <p14:sldId id="262"/>
            <p14:sldId id="257"/>
            <p14:sldId id="259"/>
          </p14:sldIdLst>
        </p14:section>
        <p14:section name="Fonctionnement du sans-fil" id="{65C30CD8-E2BF-45CA-82C8-20923ED1B3B5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Équipement d'un réseau" id="{00590E62-31C2-4CB0-B03B-80D06EA129CB}">
          <p14:sldIdLst>
            <p14:sldId id="269"/>
            <p14:sldId id="270"/>
            <p14:sldId id="271"/>
            <p14:sldId id="272"/>
            <p14:sldId id="273"/>
          </p14:sldIdLst>
        </p14:section>
        <p14:section name="Qualité du réseau" id="{E88B705C-29C1-4C21-BA39-C90CE60FDB17}">
          <p14:sldIdLst>
            <p14:sldId id="281"/>
            <p14:sldId id="276"/>
            <p14:sldId id="282"/>
            <p14:sldId id="277"/>
            <p14:sldId id="278"/>
            <p14:sldId id="280"/>
            <p14:sldId id="279"/>
          </p14:sldIdLst>
        </p14:section>
        <p14:section name="Configuration" id="{BC3CDF50-19EF-4120-960F-B4D8D2DB2F25}">
          <p14:sldIdLst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Courtemanche" userId="e091c02d-bff7-4081-aa13-b3664ffbaa88" providerId="ADAL" clId="{5C7DF9F1-070C-46A0-96EC-A456FE7AA55D}"/>
    <pc:docChg chg="custSel modSld">
      <pc:chgData name="Guillaume Courtemanche" userId="e091c02d-bff7-4081-aa13-b3664ffbaa88" providerId="ADAL" clId="{5C7DF9F1-070C-46A0-96EC-A456FE7AA55D}" dt="2026-04-29T12:13:53.530" v="36" actId="20577"/>
      <pc:docMkLst>
        <pc:docMk/>
      </pc:docMkLst>
      <pc:sldChg chg="modSp mod">
        <pc:chgData name="Guillaume Courtemanche" userId="e091c02d-bff7-4081-aa13-b3664ffbaa88" providerId="ADAL" clId="{5C7DF9F1-070C-46A0-96EC-A456FE7AA55D}" dt="2026-04-29T12:11:52.424" v="14" actId="20577"/>
        <pc:sldMkLst>
          <pc:docMk/>
          <pc:sldMk cId="2986438523" sldId="276"/>
        </pc:sldMkLst>
        <pc:spChg chg="mod">
          <ac:chgData name="Guillaume Courtemanche" userId="e091c02d-bff7-4081-aa13-b3664ffbaa88" providerId="ADAL" clId="{5C7DF9F1-070C-46A0-96EC-A456FE7AA55D}" dt="2026-04-29T12:11:52.424" v="14" actId="20577"/>
          <ac:spMkLst>
            <pc:docMk/>
            <pc:sldMk cId="2986438523" sldId="276"/>
            <ac:spMk id="3" creationId="{98CFD39B-EFB6-4F4B-BBC9-301F2E75F590}"/>
          </ac:spMkLst>
        </pc:spChg>
      </pc:sldChg>
      <pc:sldChg chg="modSp mod">
        <pc:chgData name="Guillaume Courtemanche" userId="e091c02d-bff7-4081-aa13-b3664ffbaa88" providerId="ADAL" clId="{5C7DF9F1-070C-46A0-96EC-A456FE7AA55D}" dt="2026-04-29T12:13:53.530" v="36" actId="20577"/>
        <pc:sldMkLst>
          <pc:docMk/>
          <pc:sldMk cId="4069158540" sldId="283"/>
        </pc:sldMkLst>
        <pc:spChg chg="mod">
          <ac:chgData name="Guillaume Courtemanche" userId="e091c02d-bff7-4081-aa13-b3664ffbaa88" providerId="ADAL" clId="{5C7DF9F1-070C-46A0-96EC-A456FE7AA55D}" dt="2026-04-29T12:13:53.530" v="36" actId="20577"/>
          <ac:spMkLst>
            <pc:docMk/>
            <pc:sldMk cId="4069158540" sldId="283"/>
            <ac:spMk id="3" creationId="{8BF71122-4AE3-4617-A077-7F34CD95B5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5EF72-DB56-49BC-8F97-985FF840A1F3}" type="datetimeFigureOut">
              <a:rPr lang="fr-CA" smtClean="0"/>
              <a:t>2026-04-29</a:t>
            </a:fld>
            <a:endParaRPr lang="fr-CA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1C9F8-A7FA-4D7A-BDF4-C10A8162F8B4}" type="slidenum">
              <a:rPr lang="fr-CA" smtClean="0"/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03727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1C9F8-A7FA-4D7A-BDF4-C10A8162F8B4}" type="slidenum">
              <a:rPr lang="fr-CA" smtClean="0"/>
              <a:t>29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92624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67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47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8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2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8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4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9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66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65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8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Wednesday, April 29,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30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Wednesday, April 29,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8628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E9E2ED-2BB1-46AE-A037-86EC1BF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DEB8F4-9DED-431C-9854-887FFAA60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228550"/>
            <a:ext cx="4350870" cy="2947210"/>
          </a:xfrm>
        </p:spPr>
        <p:txBody>
          <a:bodyPr anchor="t">
            <a:normAutofit/>
          </a:bodyPr>
          <a:lstStyle/>
          <a:p>
            <a:pPr algn="l"/>
            <a:r>
              <a:rPr lang="fr-CA" sz="3100" dirty="0">
                <a:ln w="15875">
                  <a:solidFill>
                    <a:schemeClr val="tx1"/>
                  </a:solidFill>
                </a:ln>
              </a:rPr>
              <a:t>INF-216 Réseaux et connectivité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035385-2D49-479F-8DE9-6C010CBD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89120"/>
            <a:ext cx="4210167" cy="1192815"/>
          </a:xfrm>
        </p:spPr>
        <p:txBody>
          <a:bodyPr anchor="b">
            <a:normAutofit/>
          </a:bodyPr>
          <a:lstStyle/>
          <a:p>
            <a:pPr algn="l"/>
            <a:r>
              <a:rPr lang="fr-CA" sz="1400" dirty="0">
                <a:ln w="12700">
                  <a:solidFill>
                    <a:schemeClr val="tx1"/>
                  </a:solidFill>
                </a:ln>
              </a:rPr>
              <a:t>Réseaux sans-fil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7" y="-3"/>
            <a:ext cx="3611463" cy="6858000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100000">
                <a:schemeClr val="tx2">
                  <a:lumMod val="50000"/>
                  <a:lumOff val="50000"/>
                  <a:alpha val="5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2000">
                <a:schemeClr val="accent2">
                  <a:alpha val="69000"/>
                </a:schemeClr>
              </a:gs>
              <a:gs pos="99000">
                <a:schemeClr val="accent4">
                  <a:alpha val="7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26853" y="-345671"/>
            <a:ext cx="3429002" cy="4120348"/>
          </a:xfrm>
          <a:prstGeom prst="rect">
            <a:avLst/>
          </a:prstGeom>
          <a:gradFill>
            <a:gsLst>
              <a:gs pos="0">
                <a:schemeClr val="accent5">
                  <a:alpha val="26000"/>
                </a:schemeClr>
              </a:gs>
              <a:gs pos="49000">
                <a:schemeClr val="tx2">
                  <a:lumMod val="75000"/>
                  <a:lumOff val="25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303CF1-9C40-41EA-8BDC-4120653F1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32" r="11768" b="1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2068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8CEC9-4C34-4398-B414-036E0592D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Ordre du jour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949213-4B3D-424F-9C9D-50B3B0F48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Survol des réseaux sans-fil</a:t>
            </a:r>
          </a:p>
          <a:p>
            <a:r>
              <a:rPr lang="fr-CA" dirty="0"/>
              <a:t>Fonctionnement du sans-fil</a:t>
            </a:r>
          </a:p>
          <a:p>
            <a:r>
              <a:rPr lang="fr-CA" dirty="0"/>
              <a:t>Équipement d’un réseau sans-fil local</a:t>
            </a:r>
          </a:p>
          <a:p>
            <a:r>
              <a:rPr lang="fr-CA" dirty="0"/>
              <a:t>Connectivité de qualité dans un </a:t>
            </a:r>
            <a:r>
              <a:rPr lang="fr-CA"/>
              <a:t>réseau sans-fil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55931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10B2E9B-7C1F-4F51-B45D-B7A4DEB7A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611D79-F3E5-4A77-A0CE-9F5F753B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0859" y="914400"/>
            <a:ext cx="5785658" cy="1705384"/>
          </a:xfrm>
        </p:spPr>
        <p:txBody>
          <a:bodyPr anchor="t">
            <a:normAutofit/>
          </a:bodyPr>
          <a:lstStyle/>
          <a:p>
            <a:r>
              <a:rPr lang="fr-CA" dirty="0"/>
              <a:t>Qu’est-ce qu’un réseau sans fil</a:t>
            </a:r>
          </a:p>
        </p:txBody>
      </p:sp>
      <p:pic>
        <p:nvPicPr>
          <p:cNvPr id="5" name="Image 4" descr="Une image contenant texte, ressort hélicoïdal, laser, clipart&#10;&#10;Description générée automatiquement">
            <a:extLst>
              <a:ext uri="{FF2B5EF4-FFF2-40B4-BE49-F238E27FC236}">
                <a16:creationId xmlns:a16="http://schemas.microsoft.com/office/drawing/2014/main" id="{C63AFE75-9FE4-4DD5-BB92-18A7D0C00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1" y="1028701"/>
            <a:ext cx="3654828" cy="4390183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59F72A-D1E7-4572-B1E2-2F9BE4709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0859" y="2855396"/>
            <a:ext cx="5785658" cy="2760031"/>
          </a:xfrm>
        </p:spPr>
        <p:txBody>
          <a:bodyPr anchor="t">
            <a:normAutofit/>
          </a:bodyPr>
          <a:lstStyle/>
          <a:p>
            <a:r>
              <a:rPr lang="fr-CA" sz="2400" dirty="0"/>
              <a:t>Appareils communiquant ensemble sans être physiquement connecté</a:t>
            </a:r>
          </a:p>
          <a:p>
            <a:r>
              <a:rPr lang="fr-CA" sz="2400" dirty="0"/>
              <a:t>Utilise des ondes radio pour transporter le signal</a:t>
            </a:r>
          </a:p>
          <a:p>
            <a:endParaRPr lang="fr-CA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F05D6-F04B-4F92-9224-92BDFB098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50AB73-5D4A-48BB-9E44-1BE4C17E2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5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679EE-E5ED-4835-AE3F-9ED80E1B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Types de réseaux sans fil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F2BD1BD-EF16-466C-9D3A-222294D7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Réseau cellulaire</a:t>
            </a:r>
          </a:p>
          <a:p>
            <a:pPr lvl="1"/>
            <a:r>
              <a:rPr lang="fr-CA" dirty="0"/>
              <a:t>Plusieurs antennes distribuées géographiquement</a:t>
            </a:r>
          </a:p>
          <a:p>
            <a:pPr lvl="1"/>
            <a:r>
              <a:rPr lang="fr-CA" dirty="0"/>
              <a:t>3G, LTE, 5G</a:t>
            </a:r>
          </a:p>
          <a:p>
            <a:r>
              <a:rPr lang="fr-CA" dirty="0"/>
              <a:t>Internet sans-fil</a:t>
            </a:r>
          </a:p>
          <a:p>
            <a:pPr lvl="1"/>
            <a:r>
              <a:rPr lang="fr-CA" dirty="0" err="1"/>
              <a:t>WiFI</a:t>
            </a:r>
            <a:r>
              <a:rPr lang="fr-CA" dirty="0"/>
              <a:t> – 802.11</a:t>
            </a:r>
          </a:p>
          <a:p>
            <a:r>
              <a:rPr lang="fr-CA" dirty="0"/>
              <a:t>Communication courte portée (IoT et appareils connectés)</a:t>
            </a:r>
          </a:p>
          <a:p>
            <a:pPr lvl="1"/>
            <a:r>
              <a:rPr lang="fr-CA" dirty="0"/>
              <a:t>Bluetooth</a:t>
            </a:r>
          </a:p>
          <a:p>
            <a:pPr lvl="1"/>
            <a:r>
              <a:rPr lang="fr-CA" dirty="0" err="1"/>
              <a:t>Zigbee</a:t>
            </a:r>
            <a:r>
              <a:rPr lang="fr-CA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98187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095AC6-E3CF-4DBC-B7AE-42C794A1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Ce qui nous intéresse dans ce cours ci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D2B466-C46E-4918-AB7F-727FDAF07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12264"/>
            <a:ext cx="12192000" cy="3959352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fr-CA" sz="4800" b="1" dirty="0"/>
              <a:t>Internet sans-fil</a:t>
            </a:r>
          </a:p>
        </p:txBody>
      </p:sp>
      <p:pic>
        <p:nvPicPr>
          <p:cNvPr id="2050" name="Picture 2" descr="The History of WiFi: 1971 to Today - CableFree">
            <a:extLst>
              <a:ext uri="{FF2B5EF4-FFF2-40B4-BE49-F238E27FC236}">
                <a16:creationId xmlns:a16="http://schemas.microsoft.com/office/drawing/2014/main" id="{BE557DC2-59B7-472F-A230-EF3E3AAA7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134" y="3429000"/>
            <a:ext cx="3811732" cy="2439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60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37AB50-8999-40DE-8B31-CD8E4F93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Pourquoi un réseau sans fil?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C87759-F56D-456A-8EDF-03B0C5D51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Pourquoi réseau sans fil?</a:t>
            </a:r>
          </a:p>
          <a:p>
            <a:r>
              <a:rPr lang="fr-CA" dirty="0"/>
              <a:t>Mobilité</a:t>
            </a:r>
          </a:p>
          <a:p>
            <a:pPr lvl="1"/>
            <a:r>
              <a:rPr lang="fr-CA" dirty="0"/>
              <a:t>Se déplacer avec un appareil connecté au réseau</a:t>
            </a:r>
          </a:p>
          <a:p>
            <a:r>
              <a:rPr lang="fr-CA" dirty="0"/>
              <a:t>Clientèle transitoire</a:t>
            </a:r>
          </a:p>
          <a:p>
            <a:pPr lvl="1"/>
            <a:r>
              <a:rPr lang="fr-CA" dirty="0"/>
              <a:t>Arrivée et départ des hôtes</a:t>
            </a:r>
          </a:p>
          <a:p>
            <a:r>
              <a:rPr lang="fr-CA" dirty="0"/>
              <a:t>Coût de déploiement</a:t>
            </a:r>
          </a:p>
          <a:p>
            <a:pPr lvl="1"/>
            <a:r>
              <a:rPr lang="fr-CA" dirty="0"/>
              <a:t>Pas besoin de passer des câbles</a:t>
            </a:r>
          </a:p>
          <a:p>
            <a:pPr marL="457200" lvl="1" indent="0">
              <a:buNone/>
            </a:pPr>
            <a:r>
              <a:rPr lang="fr-CA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64623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86B536-6CCF-4981-84DC-5AD074E4C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Tout n’est pas rose…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6465C5-A592-43CC-AD47-886607B10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Un câble : </a:t>
            </a:r>
          </a:p>
          <a:p>
            <a:pPr lvl="1"/>
            <a:r>
              <a:rPr lang="fr-CA" dirty="0"/>
              <a:t>Est un médium physique transportant le signal</a:t>
            </a:r>
          </a:p>
          <a:p>
            <a:pPr lvl="1"/>
            <a:r>
              <a:rPr lang="fr-CA" dirty="0"/>
              <a:t>Protège le signal des interférences</a:t>
            </a:r>
          </a:p>
          <a:p>
            <a:pPr lvl="1"/>
            <a:r>
              <a:rPr lang="fr-CA" dirty="0"/>
              <a:t>Est un canal dédié point à point</a:t>
            </a:r>
          </a:p>
          <a:p>
            <a:r>
              <a:rPr lang="fr-CA" dirty="0"/>
              <a:t>Le sans-fil : </a:t>
            </a:r>
          </a:p>
          <a:p>
            <a:pPr lvl="1"/>
            <a:r>
              <a:rPr lang="fr-CA" dirty="0"/>
              <a:t>Transporte le signal dans les airs</a:t>
            </a:r>
          </a:p>
          <a:p>
            <a:pPr lvl="1"/>
            <a:r>
              <a:rPr lang="fr-CA" dirty="0"/>
              <a:t>N’aime pas les murs, l’aluminium et les micro-ondes</a:t>
            </a:r>
          </a:p>
          <a:p>
            <a:pPr marL="0" indent="0" algn="ctr">
              <a:buNone/>
            </a:pPr>
            <a:r>
              <a:rPr lang="fr-CA" sz="2400" b="1" dirty="0"/>
              <a:t>Déployer un réseau sans fil performant n’est pas trivial</a:t>
            </a:r>
          </a:p>
          <a:p>
            <a:pPr lvl="1"/>
            <a:endParaRPr lang="fr-CA" dirty="0"/>
          </a:p>
        </p:txBody>
      </p:sp>
      <p:pic>
        <p:nvPicPr>
          <p:cNvPr id="1026" name="Picture 2" descr="Micro-ondes en acier inoxydable de 0,7 pi3 de Hamilton Beach | Walmart  Canada">
            <a:extLst>
              <a:ext uri="{FF2B5EF4-FFF2-40B4-BE49-F238E27FC236}">
                <a16:creationId xmlns:a16="http://schemas.microsoft.com/office/drawing/2014/main" id="{B00A9B07-2079-4418-A2CE-509F46F23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365" y="2872508"/>
            <a:ext cx="3607515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que 5" descr="Fermer avec un remplissage uni">
            <a:extLst>
              <a:ext uri="{FF2B5EF4-FFF2-40B4-BE49-F238E27FC236}">
                <a16:creationId xmlns:a16="http://schemas.microsoft.com/office/drawing/2014/main" id="{3CE353EF-5BFF-4920-9CDE-DFEA050131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7699" y="2615765"/>
            <a:ext cx="2771776" cy="277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62883F-E7F0-40FA-8190-73ED9321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fr-CA" dirty="0"/>
              <a:t>Onde radio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1B1FA1-04DF-4672-8AF0-87A9B6DD0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fr-CA" sz="1600" dirty="0"/>
              <a:t>Le signal sans-fil est transporté par onde radio</a:t>
            </a:r>
          </a:p>
          <a:p>
            <a:r>
              <a:rPr lang="fr-CA" sz="1600" dirty="0"/>
              <a:t>Une onde radio est une onde électromagnétique.</a:t>
            </a:r>
          </a:p>
          <a:p>
            <a:r>
              <a:rPr lang="fr-CA" sz="1600" dirty="0"/>
              <a:t>Une onde électromagnétique est générée lorsqu’un courant électrique commence à circuler dans un médium physique</a:t>
            </a:r>
          </a:p>
          <a:p>
            <a:r>
              <a:rPr lang="fr-CA" sz="1600" dirty="0"/>
              <a:t>En inversant de façon régulière la polarité de notre circuit on peut générer continuellement un signal électromagnétique</a:t>
            </a:r>
          </a:p>
          <a:p>
            <a:r>
              <a:rPr lang="fr-CA" sz="1600" dirty="0"/>
              <a:t>Le signal est donc cyclique</a:t>
            </a:r>
          </a:p>
          <a:p>
            <a:endParaRPr lang="fr-CA" sz="1600" dirty="0"/>
          </a:p>
        </p:txBody>
      </p:sp>
      <p:pic>
        <p:nvPicPr>
          <p:cNvPr id="2050" name="Picture 2" descr="Understanding Electromagnetic Wave Physics - RF Cafe">
            <a:extLst>
              <a:ext uri="{FF2B5EF4-FFF2-40B4-BE49-F238E27FC236}">
                <a16:creationId xmlns:a16="http://schemas.microsoft.com/office/drawing/2014/main" id="{FE3E3482-6D32-4D7E-8D12-104021019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44639" y="992237"/>
            <a:ext cx="5090161" cy="440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1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62883F-E7F0-40FA-8190-73ED9321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Propriétés d’une Onde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1B1FA1-04DF-4672-8AF0-87A9B6DD0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sz="2400" dirty="0"/>
              <a:t>Une onde est caractérisée de plusieurs propriétés. Celles qui nous intéressent particulièrement  :</a:t>
            </a:r>
          </a:p>
          <a:p>
            <a:pPr lvl="1"/>
            <a:r>
              <a:rPr lang="fr-CA" sz="2400" b="1" dirty="0"/>
              <a:t>La fréquence : </a:t>
            </a:r>
            <a:r>
              <a:rPr lang="fr-CA" sz="2400" dirty="0"/>
              <a:t>Quantité de cycle en 1 seconde. Unité de base : le hertz</a:t>
            </a:r>
          </a:p>
          <a:p>
            <a:pPr lvl="1"/>
            <a:r>
              <a:rPr lang="fr-CA" sz="2400" b="1" dirty="0"/>
              <a:t>L’amplitude : </a:t>
            </a:r>
            <a:r>
              <a:rPr lang="fr-CA" sz="2400" dirty="0"/>
              <a:t>La force du signal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22472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6" name="Rectangle 70">
            <a:extLst>
              <a:ext uri="{FF2B5EF4-FFF2-40B4-BE49-F238E27FC236}">
                <a16:creationId xmlns:a16="http://schemas.microsoft.com/office/drawing/2014/main" id="{4643CFF5-3073-44B6-9A56-4CAF096F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435C32-70FE-43A7-9FCA-A0941F87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5868785" cy="1556724"/>
          </a:xfrm>
        </p:spPr>
        <p:txBody>
          <a:bodyPr anchor="b">
            <a:normAutofit/>
          </a:bodyPr>
          <a:lstStyle/>
          <a:p>
            <a:r>
              <a:rPr lang="fr-CA"/>
              <a:t>Encodage de l’information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46FD13-36EB-4587-B774-54766D219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44189"/>
            <a:ext cx="5868785" cy="3327336"/>
          </a:xfrm>
        </p:spPr>
        <p:txBody>
          <a:bodyPr anchor="t">
            <a:normAutofit/>
          </a:bodyPr>
          <a:lstStyle/>
          <a:p>
            <a:r>
              <a:rPr lang="fr-CA" dirty="0"/>
              <a:t>Ces propriétés sont manipulées afin d’y encoder de l’information</a:t>
            </a:r>
          </a:p>
          <a:p>
            <a:pPr lvl="1"/>
            <a:r>
              <a:rPr lang="fr-CA" dirty="0"/>
              <a:t>En modifiant l’amplitude : </a:t>
            </a:r>
            <a:r>
              <a:rPr lang="fr-CA" b="1" dirty="0"/>
              <a:t>AM</a:t>
            </a:r>
          </a:p>
          <a:p>
            <a:pPr lvl="1"/>
            <a:r>
              <a:rPr lang="fr-CA" dirty="0"/>
              <a:t>En modifiant la fréquence : </a:t>
            </a:r>
            <a:r>
              <a:rPr lang="fr-CA" b="1" dirty="0"/>
              <a:t>FM</a:t>
            </a:r>
          </a:p>
          <a:p>
            <a:r>
              <a:rPr lang="fr-CA" dirty="0"/>
              <a:t>On commence par déterminer à quoi ressemble le signal de base. On appel ce signal le </a:t>
            </a:r>
            <a:r>
              <a:rPr lang="fr-CA" i="1" dirty="0"/>
              <a:t>carrier signal</a:t>
            </a:r>
            <a:r>
              <a:rPr lang="fr-CA" dirty="0"/>
              <a:t>.</a:t>
            </a:r>
          </a:p>
          <a:p>
            <a:r>
              <a:rPr lang="fr-CA" dirty="0"/>
              <a:t>Les différences entre le signal reçu et le </a:t>
            </a:r>
            <a:r>
              <a:rPr lang="fr-CA" i="1" dirty="0"/>
              <a:t>carrier signal </a:t>
            </a:r>
            <a:r>
              <a:rPr lang="fr-CA" dirty="0"/>
              <a:t>représentent de l’information</a:t>
            </a:r>
          </a:p>
        </p:txBody>
      </p:sp>
      <p:pic>
        <p:nvPicPr>
          <p:cNvPr id="3074" name="Picture 2" descr="EE26N Home Course Info Course Outline Instructor Amateur Radio Materials  Assignments and Labs Lecture Notes Exams Final Project Assigment 3: AM  Signals, and the Aircraft Bands Overview Last week you used an integrated  program, gqrx or SDR#, to ...">
            <a:extLst>
              <a:ext uri="{FF2B5EF4-FFF2-40B4-BE49-F238E27FC236}">
                <a16:creationId xmlns:a16="http://schemas.microsoft.com/office/drawing/2014/main" id="{1A6AB792-5CFC-4E3C-BEA7-C6E06615D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97585" y="1028700"/>
            <a:ext cx="3319617" cy="464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7" name="Rectangle 72">
            <a:extLst>
              <a:ext uri="{FF2B5EF4-FFF2-40B4-BE49-F238E27FC236}">
                <a16:creationId xmlns:a16="http://schemas.microsoft.com/office/drawing/2014/main" id="{955DEFE8-24AF-47F7-B020-D4D76ABA1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391868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078" name="Rectangle 74">
            <a:extLst>
              <a:ext uri="{FF2B5EF4-FFF2-40B4-BE49-F238E27FC236}">
                <a16:creationId xmlns:a16="http://schemas.microsoft.com/office/drawing/2014/main" id="{6EAE3873-25FC-4346-B1D5-82E5F9D95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39186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67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654B97-E360-49BB-AACC-3630A487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Encodage du signal </a:t>
            </a:r>
            <a:r>
              <a:rPr lang="fr-CA" dirty="0" err="1"/>
              <a:t>WiFi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D71039-BDF5-4DDE-9C7C-DD90ECA9B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5120640" cy="3959352"/>
          </a:xfrm>
        </p:spPr>
        <p:txBody>
          <a:bodyPr/>
          <a:lstStyle/>
          <a:p>
            <a:r>
              <a:rPr lang="fr-CA" dirty="0"/>
              <a:t>Les signaux </a:t>
            </a:r>
            <a:r>
              <a:rPr lang="fr-CA" dirty="0" err="1"/>
              <a:t>WiFi</a:t>
            </a:r>
            <a:r>
              <a:rPr lang="fr-CA" dirty="0"/>
              <a:t> utilisent des techniques d’encodage plus avancées</a:t>
            </a:r>
          </a:p>
          <a:p>
            <a:r>
              <a:rPr lang="fr-CA" dirty="0"/>
              <a:t>Au lieu de manipuler l’amplitude ou la fréquence, c’est la phase qui est décalée.</a:t>
            </a:r>
          </a:p>
          <a:p>
            <a:r>
              <a:rPr lang="fr-CA" dirty="0"/>
              <a:t>La phase étant le moment du cycle où l’on devrait se trouver</a:t>
            </a:r>
          </a:p>
          <a:p>
            <a:r>
              <a:rPr lang="fr-CA" dirty="0"/>
              <a:t>Cela permet d’encoder plus d’information dans un même lapse de temps</a:t>
            </a:r>
          </a:p>
        </p:txBody>
      </p:sp>
      <p:pic>
        <p:nvPicPr>
          <p:cNvPr id="4098" name="Picture 2" descr="Quadrature Phase Shift Keying : Circuit Diagram &amp; Advantages">
            <a:extLst>
              <a:ext uri="{FF2B5EF4-FFF2-40B4-BE49-F238E27FC236}">
                <a16:creationId xmlns:a16="http://schemas.microsoft.com/office/drawing/2014/main" id="{71B27B72-AE9F-4449-A8B6-90AEB5053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240" y="2025015"/>
            <a:ext cx="5133975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121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A51D59A-F9FD-43A8-A524-C7CDD9581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457201"/>
            <a:ext cx="10068975" cy="1066800"/>
          </a:xfrm>
        </p:spPr>
        <p:txBody>
          <a:bodyPr anchor="b">
            <a:normAutofit/>
          </a:bodyPr>
          <a:lstStyle/>
          <a:p>
            <a:r>
              <a:rPr lang="fr-CA" sz="4000"/>
              <a:t>Antennes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AC83D49-CFC0-4DB6-8ECD-1CD89050F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1980775"/>
            <a:ext cx="5865905" cy="3632824"/>
          </a:xfrm>
        </p:spPr>
        <p:txBody>
          <a:bodyPr anchor="t">
            <a:normAutofit/>
          </a:bodyPr>
          <a:lstStyle/>
          <a:p>
            <a:r>
              <a:rPr lang="fr-CA" sz="1800"/>
              <a:t>Le signal est généré et reçu à l’aide d’antennes</a:t>
            </a:r>
          </a:p>
          <a:p>
            <a:r>
              <a:rPr lang="fr-CA" sz="1800"/>
              <a:t>Dépendamment de la géométrie des antennes, le signal peut être dirigé ou omnidirectionnel.</a:t>
            </a:r>
          </a:p>
          <a:p>
            <a:r>
              <a:rPr lang="fr-CA" sz="1800"/>
              <a:t>Même dans le cas d’une antenne omnidirectionnelle, il peut y avoir des zones mortes</a:t>
            </a:r>
          </a:p>
        </p:txBody>
      </p:sp>
      <p:pic>
        <p:nvPicPr>
          <p:cNvPr id="5122" name="Picture 2" descr="▷ 2T2R 300Mbps wireless usb adapter dual omni">
            <a:extLst>
              <a:ext uri="{FF2B5EF4-FFF2-40B4-BE49-F238E27FC236}">
                <a16:creationId xmlns:a16="http://schemas.microsoft.com/office/drawing/2014/main" id="{D84E62D7-A0CF-4181-9B6C-21503B5384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" r="4320" b="-2"/>
          <a:stretch/>
        </p:blipFill>
        <p:spPr bwMode="auto">
          <a:xfrm>
            <a:off x="7646838" y="1980775"/>
            <a:ext cx="3748858" cy="363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30563404-8DA1-408B-B56C-EF5733DAA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1CC731-E2EC-4834-B848-101CC2756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tx2">
                  <a:lumMod val="50000"/>
                  <a:lumOff val="50000"/>
                  <a:alpha val="3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85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6A5AB9-69A2-4158-8172-D00AA58B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Radiation d’émetteur dipôle</a:t>
            </a:r>
          </a:p>
        </p:txBody>
      </p:sp>
      <p:pic>
        <p:nvPicPr>
          <p:cNvPr id="6150" name="Picture 6" descr="Antenna Theory - Quick Guide - Tutorialspoint">
            <a:extLst>
              <a:ext uri="{FF2B5EF4-FFF2-40B4-BE49-F238E27FC236}">
                <a16:creationId xmlns:a16="http://schemas.microsoft.com/office/drawing/2014/main" id="{2982639F-9CA8-49F2-B779-0F0E8B871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378" y="2216291"/>
            <a:ext cx="7307724" cy="375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712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he Best Wi-Fi 6 Routers for 2021 | PCMag">
            <a:extLst>
              <a:ext uri="{FF2B5EF4-FFF2-40B4-BE49-F238E27FC236}">
                <a16:creationId xmlns:a16="http://schemas.microsoft.com/office/drawing/2014/main" id="{CF9AC110-F9AC-4882-A5AD-50EB6C47E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920" y="1917569"/>
            <a:ext cx="5243080" cy="302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C986AA9-FB62-4977-82F9-1FE490323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Routeur sans-fil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FDA844-0E70-4563-B8D0-24572FCD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5888182" cy="3959352"/>
          </a:xfrm>
        </p:spPr>
        <p:txBody>
          <a:bodyPr/>
          <a:lstStyle/>
          <a:p>
            <a:r>
              <a:rPr lang="fr-CA" dirty="0"/>
              <a:t>Routeur avec capacité sans-fil intégrée</a:t>
            </a:r>
          </a:p>
          <a:p>
            <a:r>
              <a:rPr lang="fr-CA" dirty="0"/>
              <a:t>C’est probablement ce que vous avez chez vous</a:t>
            </a:r>
          </a:p>
          <a:p>
            <a:r>
              <a:rPr lang="fr-CA" dirty="0"/>
              <a:t>Correct pour des petites entreprises.</a:t>
            </a:r>
          </a:p>
          <a:p>
            <a:r>
              <a:rPr lang="fr-CA" dirty="0"/>
              <a:t>Pour un réseau moyennement grand, vous êtes mieux d’acheter un bon routeur et des points d’accès sans-fil</a:t>
            </a:r>
          </a:p>
          <a:p>
            <a:pPr lvl="1"/>
            <a:r>
              <a:rPr lang="fr-CA" dirty="0"/>
              <a:t>&gt; 20 appareils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73696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54F0AE-C807-47F6-A84C-ECCFAD2A6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Répéteur et Prolongateur de portée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441D06-8F0B-4278-9332-C772A56E9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6520649" cy="3959352"/>
          </a:xfrm>
        </p:spPr>
        <p:txBody>
          <a:bodyPr>
            <a:normAutofit lnSpcReduction="10000"/>
          </a:bodyPr>
          <a:lstStyle/>
          <a:p>
            <a:r>
              <a:rPr lang="fr-CA" dirty="0"/>
              <a:t>Appareils se connectant à un point d’accès étendant sa portée</a:t>
            </a:r>
          </a:p>
          <a:p>
            <a:r>
              <a:rPr lang="fr-CA" dirty="0"/>
              <a:t>Il y a quelques différences dans le fonctionnement d’un répéteur et d’un prolongateur de portée.</a:t>
            </a:r>
          </a:p>
          <a:p>
            <a:r>
              <a:rPr lang="fr-CA" dirty="0"/>
              <a:t>Les deux appareils remplissent le même rôle de façon assez similaire.</a:t>
            </a:r>
          </a:p>
          <a:p>
            <a:pPr lvl="1"/>
            <a:r>
              <a:rPr lang="fr-CA" dirty="0"/>
              <a:t>Il arrive qu’on utilise l’expression répéteur pour prolongateur de portée et vis versa.</a:t>
            </a:r>
          </a:p>
          <a:p>
            <a:r>
              <a:rPr lang="fr-CA" dirty="0"/>
              <a:t>Peut être utile sur un réseau domestique pour améliorer la connectivité à certains emplacements</a:t>
            </a:r>
          </a:p>
        </p:txBody>
      </p:sp>
      <p:pic>
        <p:nvPicPr>
          <p:cNvPr id="8194" name="Picture 2" descr="Wifi Range Extender 2.4G WiFi Blast Wireless Repeater 300Mbps, 360 Degree  Full Coverage High Speed WiFi Booster, Extend Internet Repeater Through  Whole Home, WiFi Signal Amplifier for Smart Home &amp; Alexa Devices【Newest】:">
            <a:extLst>
              <a:ext uri="{FF2B5EF4-FFF2-40B4-BE49-F238E27FC236}">
                <a16:creationId xmlns:a16="http://schemas.microsoft.com/office/drawing/2014/main" id="{691CD687-AAC1-4E88-A66E-A06132C27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931" y="1738312"/>
            <a:ext cx="3781425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826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Ubiquiti UniFi AP-AC Pro - wireless access point - UAP-AC-PRO - Wireless  Access Points - CDW.CA">
            <a:extLst>
              <a:ext uri="{FF2B5EF4-FFF2-40B4-BE49-F238E27FC236}">
                <a16:creationId xmlns:a16="http://schemas.microsoft.com/office/drawing/2014/main" id="{3E7BF24A-B821-4A94-88B5-23B7FF32D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381125"/>
            <a:ext cx="57150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697E5F3-CB57-4113-9E34-262A3C88A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Point d’accès sans-fil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A934C5-1F85-468C-A1A3-32A120B7F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112264"/>
            <a:ext cx="5851236" cy="3959352"/>
          </a:xfrm>
        </p:spPr>
        <p:txBody>
          <a:bodyPr/>
          <a:lstStyle/>
          <a:p>
            <a:r>
              <a:rPr lang="fr-CA" dirty="0"/>
              <a:t>Principal appareil de connectivité sans fil en entreprise</a:t>
            </a:r>
          </a:p>
          <a:p>
            <a:r>
              <a:rPr lang="fr-CA" dirty="0"/>
              <a:t>Fournit un signal sans-fil localisé permettant de se connecter au réseau</a:t>
            </a:r>
          </a:p>
          <a:p>
            <a:r>
              <a:rPr lang="fr-CA" dirty="0"/>
              <a:t>Les points d’accès sans-fil sont eux connectés par câble au reste de l’infrastructure du réseau </a:t>
            </a:r>
          </a:p>
        </p:txBody>
      </p:sp>
    </p:spTree>
    <p:extLst>
      <p:ext uri="{BB962C8B-B14F-4D97-AF65-F5344CB8AC3E}">
        <p14:creationId xmlns:p14="http://schemas.microsoft.com/office/powerpoint/2010/main" val="33035599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9EE320-12FF-4D38-AEBC-5C3089CFD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Point d’accès sans-fil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223A99-38CE-48C7-BB05-14C0B86B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10241280" cy="3959352"/>
          </a:xfrm>
        </p:spPr>
        <p:txBody>
          <a:bodyPr/>
          <a:lstStyle/>
          <a:p>
            <a:r>
              <a:rPr lang="fr-CA" dirty="0"/>
              <a:t>Les points d’accès peuvent formés une continuité dans le réseau</a:t>
            </a:r>
          </a:p>
          <a:p>
            <a:r>
              <a:rPr lang="fr-CA" dirty="0"/>
              <a:t>Donc même en vous déplaçant dans l’entreprise, même si un autre point d’accès prend en charge votre connexion, vous resterez connecté au même sans-fil.</a:t>
            </a:r>
          </a:p>
          <a:p>
            <a:endParaRPr lang="fr-CA" dirty="0"/>
          </a:p>
        </p:txBody>
      </p:sp>
      <p:pic>
        <p:nvPicPr>
          <p:cNvPr id="3074" name="Picture 2" descr="Wi-Fi Roaming Gotchas | Excentis">
            <a:extLst>
              <a:ext uri="{FF2B5EF4-FFF2-40B4-BE49-F238E27FC236}">
                <a16:creationId xmlns:a16="http://schemas.microsoft.com/office/drawing/2014/main" id="{7745F967-2036-4735-8D89-E499682DE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574" y="3435500"/>
            <a:ext cx="4774852" cy="263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584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4DF8A3-7FB3-4F46-89A8-5A845878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Types de points d’accès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B1390A-AD09-4B8E-A294-9B192D697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Autonome</a:t>
            </a:r>
          </a:p>
          <a:p>
            <a:pPr lvl="1"/>
            <a:r>
              <a:rPr lang="fr-CA" dirty="0"/>
              <a:t>Fonctionne de façon relativement autonome.</a:t>
            </a:r>
          </a:p>
          <a:p>
            <a:pPr lvl="1"/>
            <a:r>
              <a:rPr lang="fr-CA" dirty="0"/>
              <a:t>Agit comme un commutateur mais sans-fil</a:t>
            </a:r>
          </a:p>
          <a:p>
            <a:r>
              <a:rPr lang="fr-CA" dirty="0"/>
              <a:t>Contrôlé</a:t>
            </a:r>
          </a:p>
          <a:p>
            <a:pPr lvl="1"/>
            <a:r>
              <a:rPr lang="fr-CA" dirty="0"/>
              <a:t>Fonctionne de concert avec un contrôleur.</a:t>
            </a:r>
          </a:p>
          <a:p>
            <a:pPr lvl="1"/>
            <a:r>
              <a:rPr lang="fr-CA" dirty="0"/>
              <a:t>Les trames sont envoyées d’abord au contrôleur qui lui décide quoi en faire.</a:t>
            </a:r>
          </a:p>
        </p:txBody>
      </p:sp>
    </p:spTree>
    <p:extLst>
      <p:ext uri="{BB962C8B-B14F-4D97-AF65-F5344CB8AC3E}">
        <p14:creationId xmlns:p14="http://schemas.microsoft.com/office/powerpoint/2010/main" val="436082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BAFF70-B45A-4EF2-B197-15FD80C38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Qualité du réseau sans fil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14CABB-B74A-4CD5-A45A-3A4E62E87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10241280" cy="3959352"/>
          </a:xfrm>
        </p:spPr>
        <p:txBody>
          <a:bodyPr/>
          <a:lstStyle/>
          <a:p>
            <a:r>
              <a:rPr lang="fr-CA" dirty="0"/>
              <a:t>La qualité d’un réseau sans fil a une influence énorme sur la performance et la stabilité du réseau</a:t>
            </a:r>
          </a:p>
          <a:p>
            <a:r>
              <a:rPr lang="fr-CA" dirty="0"/>
              <a:t>Les réseaux sans-fils sont particulièrement susceptible à la perte de paquets, ainsi que la perte de connexion!</a:t>
            </a:r>
          </a:p>
          <a:p>
            <a:r>
              <a:rPr lang="fr-CA" dirty="0"/>
              <a:t> 2 facteurs sont très importants à considérer lors de la planification d’un réseau sans-fil: </a:t>
            </a:r>
          </a:p>
          <a:p>
            <a:pPr lvl="1"/>
            <a:r>
              <a:rPr lang="fr-CA" dirty="0"/>
              <a:t>L’achalandage</a:t>
            </a:r>
          </a:p>
          <a:p>
            <a:pPr lvl="1"/>
            <a:r>
              <a:rPr lang="fr-CA" dirty="0"/>
              <a:t>L’interférence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49980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CCA4F-F21B-4626-BDF8-B9DD5947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Achalandage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CFD39B-EFB6-4F4B-BBC9-301F2E75F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Plus d’appareil sur un même canal entraine une dégradation de performance.</a:t>
            </a:r>
          </a:p>
          <a:p>
            <a:pPr lvl="1"/>
            <a:r>
              <a:rPr lang="fr-CA" dirty="0"/>
              <a:t>Half duplex</a:t>
            </a:r>
          </a:p>
          <a:p>
            <a:r>
              <a:rPr lang="fr-CA" dirty="0"/>
              <a:t>La quantité d’appareil supporté en même temps sur un point d’accès sans fil va dépendre de sa qualité</a:t>
            </a:r>
          </a:p>
          <a:p>
            <a:pPr lvl="1"/>
            <a:r>
              <a:rPr lang="fr-CA" dirty="0"/>
              <a:t>Un routeur sans fil résidentiel cheap : ~15</a:t>
            </a:r>
          </a:p>
          <a:p>
            <a:pPr lvl="1"/>
            <a:r>
              <a:rPr lang="fr-CA" dirty="0"/>
              <a:t>Un point d’accès moyen ou un bon routeur résidentiel : ~ 30</a:t>
            </a:r>
          </a:p>
          <a:p>
            <a:pPr lvl="1"/>
            <a:r>
              <a:rPr lang="fr-CA" dirty="0"/>
              <a:t>Un bon point d’accès : ~ 50</a:t>
            </a:r>
          </a:p>
          <a:p>
            <a:r>
              <a:rPr lang="fr-CA" dirty="0"/>
              <a:t>Les chiffres donnés sont des estimés, et peuvent même varier en fonction de facteurs environnementaux.</a:t>
            </a:r>
          </a:p>
        </p:txBody>
      </p:sp>
    </p:spTree>
    <p:extLst>
      <p:ext uri="{BB962C8B-B14F-4D97-AF65-F5344CB8AC3E}">
        <p14:creationId xmlns:p14="http://schemas.microsoft.com/office/powerpoint/2010/main" val="2986438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A83FAC-7B12-4DD9-BA56-C6CE9680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Interférence et la dégradation de signal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8DDEFC-0340-4732-A7BD-B56C2F026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Plus le signal s’éloigne de l’émetteur, moins qu’il est fort, plus il est atténué.</a:t>
            </a:r>
          </a:p>
          <a:p>
            <a:r>
              <a:rPr lang="fr-CA" dirty="0"/>
              <a:t>Les différents matériaux que le signal doit traverser vont l’atténuer d’avantage</a:t>
            </a:r>
          </a:p>
          <a:p>
            <a:r>
              <a:rPr lang="fr-CA" dirty="0"/>
              <a:t>La force du signal reçu influence la qualité de la communication.</a:t>
            </a:r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dirty="0"/>
              <a:t>Certains appareils vont générer du bruit électromagnétique. Ce bruit va influencer le signal reçu par vos appareils. Un signal atténué est plus susceptible au bruit.</a:t>
            </a:r>
          </a:p>
          <a:p>
            <a:endParaRPr lang="fr-C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5935CCA-FE42-4024-A280-148BA74CC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410" y="3429000"/>
            <a:ext cx="5439698" cy="199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60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31155-CC48-4CE8-92E1-43B99214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Interférence et dégradation de signal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8FA325-719E-48DC-85DF-9C1A162FE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3635406" cy="3959352"/>
          </a:xfrm>
        </p:spPr>
        <p:txBody>
          <a:bodyPr/>
          <a:lstStyle/>
          <a:p>
            <a:r>
              <a:rPr lang="fr-CA" dirty="0"/>
              <a:t>Le signal a une portée maximale</a:t>
            </a:r>
          </a:p>
          <a:p>
            <a:pPr lvl="1"/>
            <a:r>
              <a:rPr lang="fr-CA" dirty="0"/>
              <a:t>Entre 100’ et 200’ </a:t>
            </a:r>
          </a:p>
          <a:p>
            <a:pPr lvl="1"/>
            <a:r>
              <a:rPr lang="fr-CA" dirty="0"/>
              <a:t>Entre 30m à 60m</a:t>
            </a:r>
          </a:p>
          <a:p>
            <a:r>
              <a:rPr lang="fr-CA" dirty="0"/>
              <a:t>Dépends de : </a:t>
            </a:r>
          </a:p>
          <a:p>
            <a:pPr lvl="1"/>
            <a:r>
              <a:rPr lang="fr-CA" dirty="0"/>
              <a:t>Protocole</a:t>
            </a:r>
          </a:p>
          <a:p>
            <a:pPr lvl="1"/>
            <a:r>
              <a:rPr lang="fr-CA" dirty="0"/>
              <a:t>Fréquence du signal</a:t>
            </a:r>
          </a:p>
          <a:p>
            <a:pPr lvl="1"/>
            <a:r>
              <a:rPr lang="fr-CA" dirty="0"/>
              <a:t>Qualité de l’émetteur</a:t>
            </a:r>
          </a:p>
        </p:txBody>
      </p:sp>
      <p:pic>
        <p:nvPicPr>
          <p:cNvPr id="10242" name="Picture 2" descr="What is the Range of a Typical Wi-Fi Network?">
            <a:extLst>
              <a:ext uri="{FF2B5EF4-FFF2-40B4-BE49-F238E27FC236}">
                <a16:creationId xmlns:a16="http://schemas.microsoft.com/office/drawing/2014/main" id="{EC5DC69D-8E09-42DA-AA3F-6EBD8C233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431" y="2029968"/>
            <a:ext cx="6264449" cy="417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618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31155-CC48-4CE8-92E1-43B99214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Interférence et dégradation de signal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8FA325-719E-48DC-85DF-9C1A162F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Cette portée peut être réduite d’avantage s’il y a des obstacles dans le chemin</a:t>
            </a:r>
          </a:p>
          <a:p>
            <a:pPr lvl="1"/>
            <a:r>
              <a:rPr lang="fr-CA" dirty="0"/>
              <a:t>Votre sans-fil n’aime pas les murs!</a:t>
            </a:r>
          </a:p>
          <a:p>
            <a:r>
              <a:rPr lang="fr-CA" dirty="0"/>
              <a:t>Dans la mesure du possible, tenez compte</a:t>
            </a:r>
            <a:br>
              <a:rPr lang="fr-CA" dirty="0"/>
            </a:br>
            <a:r>
              <a:rPr lang="fr-CA" dirty="0"/>
              <a:t>des murs lorsque vient le temps de placer</a:t>
            </a:r>
            <a:br>
              <a:rPr lang="fr-CA" dirty="0"/>
            </a:br>
            <a:r>
              <a:rPr lang="fr-CA" dirty="0"/>
              <a:t>votre émetteur sans fil.</a:t>
            </a:r>
          </a:p>
        </p:txBody>
      </p:sp>
      <p:pic>
        <p:nvPicPr>
          <p:cNvPr id="11266" name="Picture 2" descr="How can I get faster and more stable WiFi">
            <a:extLst>
              <a:ext uri="{FF2B5EF4-FFF2-40B4-BE49-F238E27FC236}">
                <a16:creationId xmlns:a16="http://schemas.microsoft.com/office/drawing/2014/main" id="{A9808893-6769-4665-A24F-097A80445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553867"/>
            <a:ext cx="5255280" cy="350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820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1DBC8414-BE7E-4B6C-A114-B2C3795C8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9318" y="1410082"/>
            <a:ext cx="6858000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53806" y="1153804"/>
            <a:ext cx="6346209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2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59574" y="3578975"/>
            <a:ext cx="2502407" cy="4055644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DE6E822A-8BCF-432C-83E6-BBE821476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13000">
                <a:schemeClr val="accent4">
                  <a:lumMod val="20000"/>
                  <a:lumOff val="80000"/>
                  <a:alpha val="200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182F35E-9991-40CD-80B9-E196A551A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243" y="681317"/>
            <a:ext cx="3236613" cy="3406187"/>
          </a:xfrm>
        </p:spPr>
        <p:txBody>
          <a:bodyPr vert="horz" lIns="0" tIns="0" rIns="0" bIns="0" rtlCol="0" anchor="b">
            <a:normAutofit/>
          </a:bodyPr>
          <a:lstStyle/>
          <a:p>
            <a:pPr algn="r"/>
            <a:r>
              <a:rPr lang="en-US" sz="2000" spc="750">
                <a:solidFill>
                  <a:schemeClr val="bg1"/>
                </a:solidFill>
              </a:rPr>
              <a:t>Interférence et dégradation de signal</a:t>
            </a:r>
          </a:p>
        </p:txBody>
      </p:sp>
      <p:pic>
        <p:nvPicPr>
          <p:cNvPr id="12290" name="Picture 2" descr="Things That Can Affect Your Wi-Fi Signal">
            <a:extLst>
              <a:ext uri="{FF2B5EF4-FFF2-40B4-BE49-F238E27FC236}">
                <a16:creationId xmlns:a16="http://schemas.microsoft.com/office/drawing/2014/main" id="{7C35D8F0-2D00-4327-ACEE-11A16BBF17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3619" y="970932"/>
            <a:ext cx="7214138" cy="492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982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31155-CC48-4CE8-92E1-43B99214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Interférence et dégradation de signal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8FA325-719E-48DC-85DF-9C1A162FE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L’interférence peut aussi réduire la portée de votre signal.</a:t>
            </a:r>
          </a:p>
          <a:p>
            <a:pPr lvl="1"/>
            <a:r>
              <a:rPr lang="fr-CA" dirty="0"/>
              <a:t>Partir un micro onde entre le routeur et votre ordinateur peut nuire à la transmission.</a:t>
            </a:r>
          </a:p>
          <a:p>
            <a:endParaRPr lang="fr-CA" dirty="0"/>
          </a:p>
        </p:txBody>
      </p:sp>
      <p:pic>
        <p:nvPicPr>
          <p:cNvPr id="13314" name="Picture 2" descr="Why Channels 1, 6, and 11? | MetaGeek">
            <a:extLst>
              <a:ext uri="{FF2B5EF4-FFF2-40B4-BE49-F238E27FC236}">
                <a16:creationId xmlns:a16="http://schemas.microsoft.com/office/drawing/2014/main" id="{78DAD218-62F0-40BB-8245-33EC7DE34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974" y="2943677"/>
            <a:ext cx="6228051" cy="3399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9017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5DF24-D3C0-43B2-9DB0-7FD03B64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Les révisions du Protocole 802.11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F71122-4AE3-4617-A077-7F34CD95B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La famille de spécification 802.11 spécifie les standards de communication sans-fil pour le déploiement d’un réseau sans-fil local. (WLAN)</a:t>
            </a:r>
          </a:p>
          <a:p>
            <a:r>
              <a:rPr lang="fr-CA" dirty="0"/>
              <a:t>Les différentes révisions du protocole spécifie les fréquences, encodages et algorithmes utilisés.</a:t>
            </a:r>
          </a:p>
          <a:p>
            <a:r>
              <a:rPr lang="fr-CA" dirty="0"/>
              <a:t>Généralement, les révisions plus récentes offrent de meilleures performances et une meilleure qualité de réseau.</a:t>
            </a:r>
          </a:p>
          <a:p>
            <a:r>
              <a:rPr lang="fr-CA" dirty="0"/>
              <a:t>En ordre : 802.11, 802.11a/b, 802.11g, 802.11n, </a:t>
            </a:r>
            <a:r>
              <a:rPr lang="fr-CA"/>
              <a:t>et 802.11ac, 802.11ax, 802.11be</a:t>
            </a: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069158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E990D2-BFA0-4EB5-AE6B-06858D7B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Fréquences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98AB4C-EEDB-4474-BD69-CDD4E3376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2 fréquences sont en utilisation </a:t>
            </a:r>
          </a:p>
          <a:p>
            <a:pPr lvl="1"/>
            <a:r>
              <a:rPr lang="fr-CA" dirty="0"/>
              <a:t>Le 2.4GHz</a:t>
            </a:r>
          </a:p>
          <a:p>
            <a:pPr lvl="1"/>
            <a:r>
              <a:rPr lang="fr-CA" dirty="0"/>
              <a:t>Le 5GHz</a:t>
            </a:r>
          </a:p>
          <a:p>
            <a:r>
              <a:rPr lang="fr-CA" dirty="0"/>
              <a:t>Le 2.4GHz offre une meilleure couverture. </a:t>
            </a:r>
          </a:p>
          <a:p>
            <a:r>
              <a:rPr lang="fr-CA" dirty="0"/>
              <a:t>Le 5GHz offre une meilleure vitesse de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055515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7C49A-C208-463E-A466-74476728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9819"/>
            <a:ext cx="10241280" cy="1234440"/>
          </a:xfrm>
        </p:spPr>
        <p:txBody>
          <a:bodyPr/>
          <a:lstStyle/>
          <a:p>
            <a:r>
              <a:rPr lang="fr-CA" dirty="0"/>
              <a:t>Bandes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594A96-111B-4532-AC53-8D8D77869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5193"/>
            <a:ext cx="10241280" cy="3959352"/>
          </a:xfrm>
        </p:spPr>
        <p:txBody>
          <a:bodyPr/>
          <a:lstStyle/>
          <a:p>
            <a:r>
              <a:rPr lang="fr-CA" dirty="0"/>
              <a:t>Le 2.4GHz couvre en fait du 2.4GHz au 2.5GHz, le tout séparé en 14 canaux de 22MHz.</a:t>
            </a:r>
          </a:p>
          <a:p>
            <a:pPr lvl="1"/>
            <a:r>
              <a:rPr lang="fr-CA" dirty="0"/>
              <a:t>Il y a donc chevauchement des bandes.</a:t>
            </a:r>
          </a:p>
          <a:p>
            <a:r>
              <a:rPr lang="fr-CA" dirty="0"/>
              <a:t>Des réseaux adjacents sur des bandes se chevauchant peuvent entrainer de l’interférence. On essaie donc de configurer nos réseaux sans-fil de façon 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68936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57C49A-C208-463E-A466-74476728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59819"/>
            <a:ext cx="10241280" cy="1234440"/>
          </a:xfrm>
        </p:spPr>
        <p:txBody>
          <a:bodyPr/>
          <a:lstStyle/>
          <a:p>
            <a:r>
              <a:rPr lang="fr-CA" dirty="0"/>
              <a:t>Bandes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594A96-111B-4532-AC53-8D8D77869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15193"/>
            <a:ext cx="10241280" cy="3959352"/>
          </a:xfrm>
        </p:spPr>
        <p:txBody>
          <a:bodyPr/>
          <a:lstStyle/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Les bandes 1, 6, 11 et 14 ne se chevauchent pas.</a:t>
            </a:r>
          </a:p>
          <a:p>
            <a:r>
              <a:rPr lang="fr-CA" dirty="0"/>
              <a:t>Les canaux 13 et 14 ne sont pas disponibles au Canada.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434BC1-CAB5-423D-9695-295FFAB9B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84" y="1715193"/>
            <a:ext cx="11464031" cy="237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2390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F6C0DA-8A6B-4EE5-B68A-D3D1A06F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WEP vs WPA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D344B7-8DDC-4266-B53D-95D1290EF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Ce sont des standards de chiffrement pour le WLAN</a:t>
            </a:r>
          </a:p>
          <a:p>
            <a:r>
              <a:rPr lang="fr-CA" dirty="0"/>
              <a:t>WEP est le plus vieux et le moins sécuritaire. Fonctionnellement équivalent à rien pantoute.</a:t>
            </a:r>
          </a:p>
          <a:p>
            <a:r>
              <a:rPr lang="fr-CA" dirty="0"/>
              <a:t>WPA vient en 3 versions : WPA et WPA2, WPA3. </a:t>
            </a:r>
            <a:r>
              <a:rPr lang="fr-CA"/>
              <a:t>Utilisez WPA3 </a:t>
            </a:r>
            <a:r>
              <a:rPr lang="fr-CA" dirty="0"/>
              <a:t>si possible.</a:t>
            </a:r>
          </a:p>
        </p:txBody>
      </p:sp>
    </p:spTree>
    <p:extLst>
      <p:ext uri="{BB962C8B-B14F-4D97-AF65-F5344CB8AC3E}">
        <p14:creationId xmlns:p14="http://schemas.microsoft.com/office/powerpoint/2010/main" val="3944920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845D39-52CA-4B7B-96FC-C1673638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TKIP vs AES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46BB52-ED7A-425D-9C1F-6DAD32B03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Ce sont les algorithmes utilisés pour le chiffrement.</a:t>
            </a:r>
          </a:p>
          <a:p>
            <a:r>
              <a:rPr lang="fr-CA" dirty="0"/>
              <a:t>Lequel choisit?</a:t>
            </a:r>
          </a:p>
          <a:p>
            <a:r>
              <a:rPr lang="fr-CA" sz="2400" b="1" dirty="0"/>
              <a:t>N’utilisez pas TKIP – TKIP est brisé.</a:t>
            </a:r>
          </a:p>
          <a:p>
            <a:r>
              <a:rPr lang="fr-CA" sz="2400" b="1" dirty="0"/>
              <a:t>Utilisez AES</a:t>
            </a:r>
            <a:endParaRPr lang="fr-CA" b="1" dirty="0"/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9975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624E0C-E9CE-4DAE-BCBC-58557EA9E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dirty="0"/>
              <a:t>Chiffrement ou pas?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373D71-E9A5-4A2E-AFFB-18359BAE7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03120"/>
            <a:ext cx="10241280" cy="395935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CA" sz="5400" b="1" u="sng" dirty="0">
                <a:solidFill>
                  <a:srgbClr val="FF0000"/>
                </a:solidFill>
              </a:rPr>
              <a:t>TOUJOURS!</a:t>
            </a:r>
          </a:p>
        </p:txBody>
      </p:sp>
    </p:spTree>
    <p:extLst>
      <p:ext uri="{BB962C8B-B14F-4D97-AF65-F5344CB8AC3E}">
        <p14:creationId xmlns:p14="http://schemas.microsoft.com/office/powerpoint/2010/main" val="363431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1243</Words>
  <Application>Microsoft Office PowerPoint</Application>
  <PresentationFormat>Widescreen</PresentationFormat>
  <Paragraphs>167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Gill Sans Nova</vt:lpstr>
      <vt:lpstr>GradientRiseVTI</vt:lpstr>
      <vt:lpstr>INF-216 Réseaux et connectivité</vt:lpstr>
      <vt:lpstr>Ordre du jour</vt:lpstr>
      <vt:lpstr>Qu’est-ce qu’un réseau sans fil</vt:lpstr>
      <vt:lpstr>Types de réseaux sans fil</vt:lpstr>
      <vt:lpstr>Ce qui nous intéresse dans ce cours ci : </vt:lpstr>
      <vt:lpstr>Pourquoi un réseau sans fil?</vt:lpstr>
      <vt:lpstr>Tout n’est pas rose…</vt:lpstr>
      <vt:lpstr>Onde radio</vt:lpstr>
      <vt:lpstr>Propriétés d’une Onde</vt:lpstr>
      <vt:lpstr>Encodage de l’information</vt:lpstr>
      <vt:lpstr>Encodage du signal WiFi</vt:lpstr>
      <vt:lpstr>Antennes</vt:lpstr>
      <vt:lpstr>Radiation d’émetteur dipôle</vt:lpstr>
      <vt:lpstr>Routeur sans-fil</vt:lpstr>
      <vt:lpstr>Répéteur et Prolongateur de portée</vt:lpstr>
      <vt:lpstr>Point d’accès sans-fil</vt:lpstr>
      <vt:lpstr>Point d’accès sans-fil</vt:lpstr>
      <vt:lpstr>Types de points d’accès</vt:lpstr>
      <vt:lpstr>Qualité du réseau sans fil</vt:lpstr>
      <vt:lpstr>Achalandage</vt:lpstr>
      <vt:lpstr>Interférence et la dégradation de signal</vt:lpstr>
      <vt:lpstr>Interférence et dégradation de signal</vt:lpstr>
      <vt:lpstr>Interférence et dégradation de signal</vt:lpstr>
      <vt:lpstr>Interférence et dégradation de signal</vt:lpstr>
      <vt:lpstr>Interférence et dégradation de signal</vt:lpstr>
      <vt:lpstr>Les révisions du Protocole 802.11</vt:lpstr>
      <vt:lpstr>Fréquences</vt:lpstr>
      <vt:lpstr>Bandes</vt:lpstr>
      <vt:lpstr>Bandes</vt:lpstr>
      <vt:lpstr>WEP vs WPA</vt:lpstr>
      <vt:lpstr>TKIP vs AES</vt:lpstr>
      <vt:lpstr>Chiffrement ou pas?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INF-216 Réseaux et connectivité</dc:title>
  <dc:creator>Guillaume Courtemanche</dc:creator>
  <cp:lastModifiedBy>Guillaume Courtemanche</cp:lastModifiedBy>
  <cp:revision>1</cp:revision>
  <dcterms:created xsi:type="dcterms:W3CDTF">2021-02-08T20:47:13Z</dcterms:created>
  <dcterms:modified xsi:type="dcterms:W3CDTF">2026-04-29T12:13:55Z</dcterms:modified>
</cp:coreProperties>
</file>